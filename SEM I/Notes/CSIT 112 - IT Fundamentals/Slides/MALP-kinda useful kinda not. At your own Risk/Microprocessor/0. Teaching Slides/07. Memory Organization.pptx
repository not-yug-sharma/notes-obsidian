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478" r:id="rId3"/>
    <p:sldId id="374" r:id="rId4"/>
    <p:sldId id="376" r:id="rId5"/>
    <p:sldId id="401" r:id="rId6"/>
    <p:sldId id="402" r:id="rId7"/>
    <p:sldId id="403" r:id="rId8"/>
    <p:sldId id="441" r:id="rId9"/>
    <p:sldId id="468" r:id="rId10"/>
    <p:sldId id="470" r:id="rId11"/>
    <p:sldId id="469" r:id="rId12"/>
    <p:sldId id="471" r:id="rId13"/>
    <p:sldId id="445" r:id="rId14"/>
    <p:sldId id="446" r:id="rId15"/>
    <p:sldId id="405" r:id="rId16"/>
    <p:sldId id="406" r:id="rId17"/>
    <p:sldId id="407" r:id="rId18"/>
    <p:sldId id="473" r:id="rId19"/>
    <p:sldId id="472" r:id="rId20"/>
    <p:sldId id="408" r:id="rId21"/>
    <p:sldId id="410" r:id="rId22"/>
    <p:sldId id="412" r:id="rId23"/>
    <p:sldId id="475" r:id="rId24"/>
    <p:sldId id="416" r:id="rId25"/>
    <p:sldId id="474" r:id="rId26"/>
    <p:sldId id="419" r:id="rId27"/>
    <p:sldId id="420" r:id="rId28"/>
    <p:sldId id="421" r:id="rId29"/>
    <p:sldId id="422" r:id="rId30"/>
    <p:sldId id="423" r:id="rId31"/>
    <p:sldId id="479" r:id="rId32"/>
    <p:sldId id="350" r:id="rId3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D0D0"/>
    <a:srgbClr val="FCD5B5"/>
    <a:srgbClr val="FFC000"/>
    <a:srgbClr val="FF66FF"/>
    <a:srgbClr val="95B3D7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828" autoAdjust="0"/>
    <p:restoredTop sz="94638" autoAdjust="0"/>
  </p:normalViewPr>
  <p:slideViewPr>
    <p:cSldViewPr>
      <p:cViewPr>
        <p:scale>
          <a:sx n="100" d="100"/>
          <a:sy n="100" d="100"/>
        </p:scale>
        <p:origin x="-1579" y="-21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1217F-33BB-424C-84F0-80B1AD8865D9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72A33-6AF3-4A67-9238-D40DDDDA61A1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A061E-C175-483D-845E-8E631840DCE4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877BC-8B12-4459-8487-9824751A0A99}" type="datetime1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60824-80EB-4638-A3E3-309F490C1283}" type="datetime1">
              <a:rPr lang="en-US" smtClean="0"/>
              <a:t>7/3/2023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2450-78C3-451A-93CD-6FA1B0EB5EC1}" type="datetime1">
              <a:rPr lang="en-US" smtClean="0"/>
              <a:t>7/3/2023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D1B1-4FCD-4CD7-9160-B8B0FA6DAEA0}" type="datetime1">
              <a:rPr lang="en-US" smtClean="0"/>
              <a:t>7/3/2023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04CD-9929-4C6D-9CD8-394B9C7FDF65}" type="datetime1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AFA0A-CFCD-4817-A178-66305C7FC5A5}" type="datetime1">
              <a:rPr lang="en-US" smtClean="0"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7510C-0214-4E13-BA95-9249EBB0597A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BD25-DFB3-4258-BBF8-A7C761088A5A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CFA27-EA39-491B-86E8-FFFACF9C20E6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Memory Organization, COA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V7Kk1njt5c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uwnsMaH-iV0" TargetMode="Externa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hAh6thw_TI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KhAh6thw_TI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uM8K0Z5usu8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Chapter 7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MEMORY ORGANIZATION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Memory Hierarchy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Associative Memory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Cache Memory: Cache Mapping techniques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Replacing data in cache, writing data to the cache, cache performance basics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B2EC-7F81-4486-AE50-4F87B924094D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MPCA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7.1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257800" cy="3851673"/>
          </a:xfrm>
        </p:spPr>
        <p:txBody>
          <a:bodyPr>
            <a:normAutofit/>
          </a:bodyPr>
          <a:lstStyle/>
          <a:p>
            <a:r>
              <a:rPr lang="en-US" sz="1600" dirty="0"/>
              <a:t>A memory stores large number of items commonly referred as </a:t>
            </a:r>
            <a:r>
              <a:rPr lang="en-US" sz="1600" dirty="0">
                <a:solidFill>
                  <a:srgbClr val="C00000"/>
                </a:solidFill>
              </a:rPr>
              <a:t>words</a:t>
            </a:r>
            <a:r>
              <a:rPr lang="en-US" sz="1600" dirty="0"/>
              <a:t>. </a:t>
            </a:r>
          </a:p>
          <a:p>
            <a:r>
              <a:rPr lang="en-US" sz="1600" dirty="0"/>
              <a:t>Each word consists of a specific number of bits, for e.g. 8 bits. </a:t>
            </a:r>
          </a:p>
          <a:p>
            <a:r>
              <a:rPr lang="en-US" sz="1600" dirty="0"/>
              <a:t>Therefore, a memory can be viewed as:</a:t>
            </a:r>
          </a:p>
          <a:p>
            <a:pPr lvl="1"/>
            <a:r>
              <a:rPr lang="en-US" sz="1400" b="1" i="1" dirty="0">
                <a:solidFill>
                  <a:srgbClr val="C00000"/>
                </a:solidFill>
              </a:rPr>
              <a:t>m</a:t>
            </a:r>
            <a:r>
              <a:rPr lang="en-US" sz="1400" dirty="0">
                <a:solidFill>
                  <a:srgbClr val="C00000"/>
                </a:solidFill>
              </a:rPr>
              <a:t> words of </a:t>
            </a:r>
            <a:r>
              <a:rPr lang="en-US" sz="1400" b="1" i="1" dirty="0">
                <a:solidFill>
                  <a:srgbClr val="C00000"/>
                </a:solidFill>
              </a:rPr>
              <a:t>n</a:t>
            </a:r>
            <a:r>
              <a:rPr lang="en-US" sz="1400" dirty="0">
                <a:solidFill>
                  <a:srgbClr val="C00000"/>
                </a:solidFill>
              </a:rPr>
              <a:t> bits </a:t>
            </a:r>
          </a:p>
          <a:p>
            <a:pPr lvl="1"/>
            <a:r>
              <a:rPr lang="en-US" sz="1400" dirty="0"/>
              <a:t>each for a total of </a:t>
            </a:r>
            <a:r>
              <a:rPr lang="en-US" sz="1400" b="1" i="1" dirty="0">
                <a:solidFill>
                  <a:srgbClr val="C00000"/>
                </a:solidFill>
              </a:rPr>
              <a:t>m x n </a:t>
            </a:r>
            <a:r>
              <a:rPr lang="en-US" sz="1400" dirty="0"/>
              <a:t>bits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B956E-EC9D-423B-8636-442A5BEF2F78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2261A-E345-4EFD-A11B-B525F05E7065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47806" t="8265" r="5406" b="8468"/>
          <a:stretch/>
        </p:blipFill>
        <p:spPr>
          <a:xfrm>
            <a:off x="6479773" y="2750343"/>
            <a:ext cx="1978427" cy="1955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22CFEE-6DA7-4198-A959-CC378071DFDB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r="49542" b="16734"/>
          <a:stretch/>
        </p:blipFill>
        <p:spPr>
          <a:xfrm>
            <a:off x="6553200" y="83343"/>
            <a:ext cx="2133600" cy="19550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847E07-3DDF-4F7E-BD52-FDA0388DDA56}"/>
              </a:ext>
            </a:extLst>
          </p:cNvPr>
          <p:cNvSpPr txBox="1"/>
          <p:nvPr/>
        </p:nvSpPr>
        <p:spPr>
          <a:xfrm>
            <a:off x="6708373" y="2179397"/>
            <a:ext cx="19784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dirty="0">
                <a:solidFill>
                  <a:schemeClr val="accent6">
                    <a:lumMod val="75000"/>
                  </a:schemeClr>
                </a:solidFill>
              </a:rPr>
              <a:t>Figure: Words and bits per word</a:t>
            </a:r>
          </a:p>
          <a:p>
            <a:pPr algn="ctr"/>
            <a:r>
              <a:rPr lang="en-US" sz="1050" b="1" i="1" dirty="0">
                <a:solidFill>
                  <a:schemeClr val="accent6">
                    <a:lumMod val="75000"/>
                  </a:schemeClr>
                </a:solidFill>
              </a:rPr>
              <a:t> in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99F5A-693F-41A9-9F2D-927401254D5C}"/>
              </a:ext>
            </a:extLst>
          </p:cNvPr>
          <p:cNvSpPr txBox="1"/>
          <p:nvPr/>
        </p:nvSpPr>
        <p:spPr>
          <a:xfrm>
            <a:off x="6479773" y="4630627"/>
            <a:ext cx="19094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dirty="0">
                <a:solidFill>
                  <a:schemeClr val="accent6">
                    <a:lumMod val="75000"/>
                  </a:schemeClr>
                </a:solidFill>
              </a:rPr>
              <a:t>Figure: Memory Block diagram</a:t>
            </a:r>
          </a:p>
        </p:txBody>
      </p:sp>
    </p:spTree>
    <p:extLst>
      <p:ext uri="{BB962C8B-B14F-4D97-AF65-F5344CB8AC3E}">
        <p14:creationId xmlns:p14="http://schemas.microsoft.com/office/powerpoint/2010/main" val="278531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42950"/>
            <a:ext cx="6172200" cy="385167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If a memory has </a:t>
            </a:r>
            <a:r>
              <a:rPr lang="en-US" i="1" dirty="0"/>
              <a:t>k</a:t>
            </a:r>
            <a:r>
              <a:rPr lang="en-US" dirty="0"/>
              <a:t> address inputs, it can have up to </a:t>
            </a:r>
            <a:r>
              <a:rPr lang="en-US" i="1" dirty="0"/>
              <a:t>2</a:t>
            </a:r>
            <a:r>
              <a:rPr lang="en-US" i="1" baseline="30000" dirty="0"/>
              <a:t>k</a:t>
            </a:r>
            <a:r>
              <a:rPr lang="en-US" i="1" dirty="0"/>
              <a:t> </a:t>
            </a:r>
            <a:r>
              <a:rPr lang="en-US" dirty="0"/>
              <a:t>words (m=2</a:t>
            </a:r>
            <a:r>
              <a:rPr lang="en-US" baseline="30000" dirty="0"/>
              <a:t>k</a:t>
            </a:r>
            <a:r>
              <a:rPr lang="en-US" dirty="0"/>
              <a:t>) which implies that; k=log</a:t>
            </a:r>
            <a:r>
              <a:rPr lang="en-US" baseline="-25000" dirty="0"/>
              <a:t>2</a:t>
            </a:r>
            <a:r>
              <a:rPr lang="en-US" dirty="0"/>
              <a:t>(m).</a:t>
            </a:r>
          </a:p>
          <a:p>
            <a:r>
              <a:rPr lang="en-US" dirty="0"/>
              <a:t>This means that log</a:t>
            </a:r>
            <a:r>
              <a:rPr lang="en-US" baseline="-25000" dirty="0"/>
              <a:t>2</a:t>
            </a:r>
            <a:r>
              <a:rPr lang="en-US" dirty="0"/>
              <a:t>(m) address input signals are required to identify a particular word. </a:t>
            </a:r>
          </a:p>
          <a:p>
            <a:r>
              <a:rPr lang="en-US" dirty="0"/>
              <a:t>Also, n data signals are required to output a selected word.</a:t>
            </a:r>
          </a:p>
          <a:p>
            <a:r>
              <a:rPr lang="en-US" dirty="0"/>
              <a:t>For example: </a:t>
            </a:r>
          </a:p>
          <a:p>
            <a:pPr marL="0" indent="0" defTabSz="403225">
              <a:buNone/>
            </a:pPr>
            <a:r>
              <a:rPr lang="en-US" dirty="0"/>
              <a:t>	4096 x 8 memory:</a:t>
            </a:r>
          </a:p>
          <a:p>
            <a:pPr lvl="1"/>
            <a:r>
              <a:rPr lang="en-US" dirty="0"/>
              <a:t>can store 32768 bits and </a:t>
            </a:r>
          </a:p>
          <a:p>
            <a:pPr lvl="1"/>
            <a:r>
              <a:rPr lang="en-US" dirty="0"/>
              <a:t>require 12 address signals ( </a:t>
            </a:r>
            <a:r>
              <a:rPr lang="en-US" dirty="0" err="1"/>
              <a:t>i.e</a:t>
            </a:r>
            <a:r>
              <a:rPr lang="en-US" dirty="0"/>
              <a:t> k= log</a:t>
            </a:r>
            <a:r>
              <a:rPr lang="en-US" baseline="-25000" dirty="0"/>
              <a:t>2</a:t>
            </a:r>
            <a:r>
              <a:rPr lang="en-US" dirty="0"/>
              <a:t>(4096) = 12 )</a:t>
            </a:r>
          </a:p>
          <a:p>
            <a:pPr lvl="1"/>
            <a:r>
              <a:rPr lang="en-US" dirty="0"/>
              <a:t>eight I/O data signals. 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0B9A-4834-487C-A1BB-F53C7B39F3D6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EBD793-70EF-4FBF-AB4A-0B675482571F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48630" r="4586" b="8621"/>
          <a:stretch/>
        </p:blipFill>
        <p:spPr>
          <a:xfrm>
            <a:off x="6705600" y="1485201"/>
            <a:ext cx="2286000" cy="238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9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7.2 Memory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There are three key characteristics of memory that can put them in a hierarchical order, namely: capacity, access time, and cost. </a:t>
            </a:r>
          </a:p>
          <a:p>
            <a:r>
              <a:rPr lang="en-US" sz="2400" dirty="0"/>
              <a:t>The below relationship holds true for the memories: 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Faster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C00000"/>
                </a:solidFill>
              </a:rPr>
              <a:t>access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C00000"/>
                </a:solidFill>
              </a:rPr>
              <a:t>time</a:t>
            </a:r>
            <a:r>
              <a:rPr lang="en-US" sz="2000" dirty="0"/>
              <a:t>,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greater</a:t>
            </a:r>
            <a:r>
              <a:rPr lang="en-US" sz="2000" dirty="0"/>
              <a:t> is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cost</a:t>
            </a:r>
            <a:r>
              <a:rPr lang="en-US" sz="2000" dirty="0"/>
              <a:t> per bit 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Greater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C00000"/>
                </a:solidFill>
              </a:rPr>
              <a:t>storage</a:t>
            </a:r>
            <a:r>
              <a:rPr lang="en-US" sz="2000" dirty="0"/>
              <a:t> capacity,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smaller</a:t>
            </a:r>
            <a:r>
              <a:rPr lang="en-US" sz="2000" dirty="0"/>
              <a:t>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cost</a:t>
            </a:r>
            <a:r>
              <a:rPr lang="en-US" sz="2000" dirty="0"/>
              <a:t> per bit 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Greater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C00000"/>
                </a:solidFill>
              </a:rPr>
              <a:t>storage</a:t>
            </a:r>
            <a:r>
              <a:rPr lang="en-US" sz="2000" dirty="0"/>
              <a:t> capacity,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slower</a:t>
            </a:r>
            <a:r>
              <a:rPr lang="en-US" sz="2000" dirty="0"/>
              <a:t> access time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39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86200" cy="3851673"/>
          </a:xfrm>
        </p:spPr>
        <p:txBody>
          <a:bodyPr>
            <a:normAutofit/>
          </a:bodyPr>
          <a:lstStyle/>
          <a:p>
            <a:r>
              <a:rPr lang="en-US" sz="1800" dirty="0"/>
              <a:t>To meet performance requirements, the ES designer wishes to use expensive, relatively lower-capacity memories with short access times. </a:t>
            </a:r>
          </a:p>
          <a:p>
            <a:r>
              <a:rPr lang="en-US" sz="1800" dirty="0"/>
              <a:t>But </a:t>
            </a:r>
            <a:r>
              <a:rPr lang="en-US" sz="1800" dirty="0">
                <a:solidFill>
                  <a:srgbClr val="C00000"/>
                </a:solidFill>
              </a:rPr>
              <a:t>ultimately, the cost increases</a:t>
            </a:r>
            <a:r>
              <a:rPr lang="en-US" sz="1800" dirty="0"/>
              <a:t>. </a:t>
            </a:r>
          </a:p>
          <a:p>
            <a:r>
              <a:rPr lang="en-US" sz="1800" dirty="0"/>
              <a:t>So, the designer should employ a memory hierarchy. </a:t>
            </a:r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65D1-E19D-404B-BB44-140A4951BD39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82B3E-8989-4393-A95B-62C00E4EC5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20988" y="839390"/>
            <a:ext cx="3886200" cy="28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6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862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As one goes down the hierarchy, the following occur: </a:t>
            </a:r>
          </a:p>
          <a:p>
            <a:pPr lvl="1"/>
            <a:r>
              <a:rPr lang="en-US" sz="1800" dirty="0"/>
              <a:t>Decreasing cost per bit </a:t>
            </a:r>
          </a:p>
          <a:p>
            <a:pPr lvl="1"/>
            <a:r>
              <a:rPr lang="en-US" sz="1800" dirty="0"/>
              <a:t>Increasing capacity </a:t>
            </a:r>
          </a:p>
          <a:p>
            <a:pPr lvl="1"/>
            <a:r>
              <a:rPr lang="en-US" sz="1800" dirty="0"/>
              <a:t>Increasing access time </a:t>
            </a:r>
          </a:p>
          <a:p>
            <a:pPr lvl="1"/>
            <a:r>
              <a:rPr lang="en-US" sz="1800" dirty="0"/>
              <a:t>Decreasing frequency of access of the memory by the processor 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CB3E-19A6-4D1E-A296-C99E2D478CF4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1D4D1-F257-46CA-9519-5310ECFA89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20988" y="839390"/>
            <a:ext cx="3886200" cy="28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4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7.2 Associative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r>
              <a:rPr lang="en-US" sz="2300" dirty="0"/>
              <a:t>Aka </a:t>
            </a:r>
            <a:r>
              <a:rPr lang="en-US" sz="2300" b="1" dirty="0"/>
              <a:t>Content</a:t>
            </a:r>
            <a:r>
              <a:rPr lang="en-US" sz="2300" dirty="0"/>
              <a:t> </a:t>
            </a:r>
            <a:r>
              <a:rPr lang="en-US" sz="2300" b="1" dirty="0"/>
              <a:t>Addressable</a:t>
            </a:r>
            <a:r>
              <a:rPr lang="en-US" sz="2300" dirty="0"/>
              <a:t> </a:t>
            </a:r>
            <a:r>
              <a:rPr lang="en-US" sz="2300" b="1" dirty="0"/>
              <a:t>Memory</a:t>
            </a:r>
            <a:r>
              <a:rPr lang="en-US" sz="2300" dirty="0"/>
              <a:t> (CAM)</a:t>
            </a:r>
          </a:p>
          <a:p>
            <a:r>
              <a:rPr lang="en-US" sz="2300" dirty="0"/>
              <a:t>A memory unit accessed by content,  rather than by address, is called CAM.</a:t>
            </a:r>
          </a:p>
          <a:p>
            <a:r>
              <a:rPr lang="en-US" sz="2300" dirty="0"/>
              <a:t>When a </a:t>
            </a:r>
            <a:r>
              <a:rPr lang="en-US" sz="2300" dirty="0">
                <a:solidFill>
                  <a:srgbClr val="C00000"/>
                </a:solidFill>
              </a:rPr>
              <a:t>write operation </a:t>
            </a:r>
            <a:r>
              <a:rPr lang="en-US" sz="2300" dirty="0"/>
              <a:t>is performed on associative memory, no address or memory location is given to the word. </a:t>
            </a:r>
          </a:p>
          <a:p>
            <a:pPr lvl="1"/>
            <a:r>
              <a:rPr lang="en-US" sz="1900" dirty="0"/>
              <a:t>The memory itself is </a:t>
            </a:r>
            <a:r>
              <a:rPr lang="en-US" sz="1900" dirty="0">
                <a:solidFill>
                  <a:srgbClr val="C00000"/>
                </a:solidFill>
              </a:rPr>
              <a:t>capable of finding an empty unused location </a:t>
            </a:r>
            <a:r>
              <a:rPr lang="en-US" sz="1900" dirty="0"/>
              <a:t>to store the word.</a:t>
            </a:r>
          </a:p>
          <a:p>
            <a:r>
              <a:rPr lang="en-US" sz="2300" dirty="0"/>
              <a:t>For </a:t>
            </a:r>
            <a:r>
              <a:rPr lang="en-US" sz="2300" dirty="0">
                <a:solidFill>
                  <a:srgbClr val="C00000"/>
                </a:solidFill>
              </a:rPr>
              <a:t>read operation</a:t>
            </a:r>
            <a:r>
              <a:rPr lang="en-US" sz="2300" dirty="0"/>
              <a:t>, the content of the word, or part of the word, is specified. </a:t>
            </a:r>
          </a:p>
          <a:p>
            <a:pPr lvl="1"/>
            <a:r>
              <a:rPr lang="en-US" sz="1900" dirty="0"/>
              <a:t>The words which match the specified content are located by the memory and are marked for reading.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10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Block diagram of CAM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3962401" cy="3851673"/>
          </a:xfrm>
        </p:spPr>
        <p:txBody>
          <a:bodyPr>
            <a:normAutofit fontScale="92500"/>
          </a:bodyPr>
          <a:lstStyle/>
          <a:p>
            <a:pPr fontAlgn="base">
              <a:buFont typeface="+mj-lt"/>
              <a:buAutoNum type="arabicPeriod"/>
            </a:pPr>
            <a:r>
              <a:rPr lang="en-US" sz="1400" b="1" dirty="0"/>
              <a:t>Input Register (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/>
              <a:t>): </a:t>
            </a:r>
          </a:p>
          <a:p>
            <a:pPr marL="511175" lvl="1" indent="-171450" fontAlgn="base"/>
            <a:r>
              <a:rPr lang="en-US" sz="1200" dirty="0">
                <a:solidFill>
                  <a:srgbClr val="C00000"/>
                </a:solidFill>
              </a:rPr>
              <a:t>hold the data that is to be written</a:t>
            </a:r>
            <a:r>
              <a:rPr lang="en-US" sz="1200" dirty="0"/>
              <a:t> into the associative memory.</a:t>
            </a:r>
          </a:p>
          <a:p>
            <a:pPr marL="511175" lvl="1" indent="-171450" fontAlgn="base"/>
            <a:r>
              <a:rPr lang="en-US" sz="1200" dirty="0"/>
              <a:t>It is also used to hold the data that is to be searched for. </a:t>
            </a:r>
          </a:p>
          <a:p>
            <a:pPr marL="511175" lvl="1" indent="-171450" fontAlgn="base"/>
            <a:r>
              <a:rPr lang="en-US" sz="1200" dirty="0"/>
              <a:t>At a particular time it can hold a data containing one word of length (say n). </a:t>
            </a:r>
          </a:p>
          <a:p>
            <a:pPr fontAlgn="base">
              <a:buFont typeface="+mj-lt"/>
              <a:buAutoNum type="arabicPeriod"/>
            </a:pPr>
            <a:r>
              <a:rPr lang="en-US" sz="1400" b="1" dirty="0"/>
              <a:t>Mask Register (M)</a:t>
            </a:r>
          </a:p>
          <a:p>
            <a:pPr marL="512763" lvl="1" indent="-168275" fontAlgn="base"/>
            <a:r>
              <a:rPr lang="en-US" sz="1200" dirty="0"/>
              <a:t>is used to </a:t>
            </a:r>
            <a:r>
              <a:rPr lang="en-US" sz="1200" dirty="0">
                <a:solidFill>
                  <a:srgbClr val="C00000"/>
                </a:solidFill>
              </a:rPr>
              <a:t>provide a mask for choosing a key </a:t>
            </a:r>
            <a:r>
              <a:rPr lang="en-US" sz="1200" dirty="0"/>
              <a:t>or particular field in the input register's word. </a:t>
            </a:r>
          </a:p>
          <a:p>
            <a:pPr marL="512763" lvl="1" indent="-168275" fontAlgn="base"/>
            <a:r>
              <a:rPr lang="en-US" sz="1200" dirty="0"/>
              <a:t>Since input register can hold a data of one word of length n so the maximum length of mask register can be n.</a:t>
            </a:r>
          </a:p>
          <a:p>
            <a:pPr fontAlgn="base">
              <a:buFont typeface="+mj-lt"/>
              <a:buAutoNum type="arabicPeriod"/>
            </a:pPr>
            <a:r>
              <a:rPr lang="en-US" sz="1400" b="1" dirty="0"/>
              <a:t>Select Register (S)</a:t>
            </a:r>
          </a:p>
          <a:p>
            <a:pPr marL="512763" lvl="1" indent="-173038" fontAlgn="base"/>
            <a:r>
              <a:rPr lang="en-US" sz="1200" dirty="0"/>
              <a:t>contains m bits, one for each memory words. </a:t>
            </a:r>
          </a:p>
          <a:p>
            <a:pPr marL="512763" lvl="1" indent="-173038" fontAlgn="base"/>
            <a:r>
              <a:rPr lang="en-US" sz="1200" dirty="0"/>
              <a:t>When input data in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/>
              <a:t> register is compared to key in m register and </a:t>
            </a:r>
            <a:r>
              <a:rPr lang="en-US" sz="1200" dirty="0">
                <a:solidFill>
                  <a:srgbClr val="C00000"/>
                </a:solidFill>
              </a:rPr>
              <a:t>match is found </a:t>
            </a:r>
            <a:r>
              <a:rPr lang="en-US" sz="1200" dirty="0"/>
              <a:t>then that particular </a:t>
            </a:r>
            <a:r>
              <a:rPr lang="en-US" sz="1200" dirty="0">
                <a:solidFill>
                  <a:srgbClr val="C00000"/>
                </a:solidFill>
              </a:rPr>
              <a:t>bit is set </a:t>
            </a:r>
            <a:r>
              <a:rPr lang="en-US" sz="1200" dirty="0"/>
              <a:t>in select register.</a:t>
            </a:r>
          </a:p>
          <a:p>
            <a:pPr fontAlgn="base">
              <a:buFont typeface="+mj-lt"/>
              <a:buAutoNum type="arabicPeriod"/>
            </a:pPr>
            <a:r>
              <a:rPr lang="en-US" sz="1400" b="1" dirty="0"/>
              <a:t>Output Register (Y)</a:t>
            </a:r>
            <a:r>
              <a:rPr lang="en-US" sz="1400" dirty="0"/>
              <a:t> </a:t>
            </a:r>
          </a:p>
          <a:p>
            <a:pPr marL="512763" lvl="1" indent="-173038" fontAlgn="base"/>
            <a:r>
              <a:rPr lang="en-US" sz="1200" dirty="0">
                <a:solidFill>
                  <a:srgbClr val="C00000"/>
                </a:solidFill>
              </a:rPr>
              <a:t>contains the matched data word </a:t>
            </a:r>
            <a:r>
              <a:rPr lang="en-US" sz="1200" dirty="0"/>
              <a:t>that is retrieved from associative memory.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8" name="Picture 4" descr="Block Diagram of Associative Memory">
            <a:extLst>
              <a:ext uri="{FF2B5EF4-FFF2-40B4-BE49-F238E27FC236}">
                <a16:creationId xmlns:a16="http://schemas.microsoft.com/office/drawing/2014/main" id="{94759D18-1445-4B6B-9BDA-49C0BAE0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792361"/>
            <a:ext cx="474345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381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Working of CAM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3971925" cy="3851673"/>
          </a:xfrm>
        </p:spPr>
        <p:txBody>
          <a:bodyPr>
            <a:normAutofit/>
          </a:bodyPr>
          <a:lstStyle/>
          <a:p>
            <a:pPr marL="228600" indent="-228600" fontAlgn="base"/>
            <a:r>
              <a:rPr lang="en-US" sz="1400" dirty="0"/>
              <a:t>The words which are kept in the memory are </a:t>
            </a:r>
            <a:r>
              <a:rPr lang="en-US" sz="1400" dirty="0">
                <a:solidFill>
                  <a:srgbClr val="C00000"/>
                </a:solidFill>
              </a:rPr>
              <a:t>compared in parallel </a:t>
            </a:r>
            <a:r>
              <a:rPr lang="en-US" sz="1400" dirty="0"/>
              <a:t>with the content of the Input Register.</a:t>
            </a:r>
          </a:p>
          <a:p>
            <a:pPr marL="228600" indent="-228600" fontAlgn="base"/>
            <a:r>
              <a:rPr lang="en-US" sz="1400" dirty="0"/>
              <a:t>The Mask register (M) provides a mask for choosing a particular field or key in the Input word.</a:t>
            </a:r>
          </a:p>
          <a:p>
            <a:pPr marL="228600" indent="-228600" fontAlgn="base"/>
            <a:r>
              <a:rPr lang="en-US" sz="1400" dirty="0"/>
              <a:t>If the Mask Register contains a binary value of all 1's, then the entire argument is compared with each memory word. </a:t>
            </a:r>
          </a:p>
          <a:p>
            <a:pPr marL="228600" indent="-228600" fontAlgn="base"/>
            <a:r>
              <a:rPr lang="en-US" sz="1400" dirty="0"/>
              <a:t>Otherwise, only those bits in the Input that have 1's in their corresponding position of the Mask register are compared.</a:t>
            </a:r>
            <a:endParaRPr lang="en-US" sz="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8" name="Picture 4" descr="Block Diagram of Associative Memory">
            <a:extLst>
              <a:ext uri="{FF2B5EF4-FFF2-40B4-BE49-F238E27FC236}">
                <a16:creationId xmlns:a16="http://schemas.microsoft.com/office/drawing/2014/main" id="{94759D18-1445-4B6B-9BDA-49C0BAE0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679076"/>
            <a:ext cx="474345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23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42950"/>
            <a:ext cx="4876800" cy="3851673"/>
          </a:xfrm>
        </p:spPr>
        <p:txBody>
          <a:bodyPr>
            <a:normAutofit/>
          </a:bodyPr>
          <a:lstStyle/>
          <a:p>
            <a:r>
              <a:rPr lang="en-US" sz="1600" dirty="0"/>
              <a:t>The cells present inside the memory array are marked by the letter C with two subscripts. </a:t>
            </a:r>
          </a:p>
          <a:p>
            <a:pPr lvl="1"/>
            <a:r>
              <a:rPr lang="en-US" sz="1400" dirty="0"/>
              <a:t>The first subscript gives the word number and the second specifies the bit position in the word. </a:t>
            </a:r>
          </a:p>
          <a:p>
            <a:pPr lvl="1"/>
            <a:r>
              <a:rPr lang="en-US" sz="1400" dirty="0"/>
              <a:t>For instance, the cell </a:t>
            </a:r>
            <a:r>
              <a:rPr lang="en-US" sz="1400" dirty="0" err="1"/>
              <a:t>C</a:t>
            </a:r>
            <a:r>
              <a:rPr lang="en-US" sz="1400" baseline="-25000" dirty="0" err="1"/>
              <a:t>ij</a:t>
            </a:r>
            <a:r>
              <a:rPr lang="en-US" sz="1400" dirty="0"/>
              <a:t> is the cell for bit </a:t>
            </a:r>
            <a:r>
              <a:rPr lang="en-US" sz="1400" b="1" dirty="0"/>
              <a:t>j</a:t>
            </a:r>
            <a:r>
              <a:rPr lang="en-US" sz="1400" dirty="0"/>
              <a:t> in word </a:t>
            </a:r>
            <a:r>
              <a:rPr lang="en-US" sz="1400" b="1" dirty="0" err="1"/>
              <a:t>i</a:t>
            </a:r>
            <a:r>
              <a:rPr lang="en-US" sz="1400" dirty="0"/>
              <a:t>.</a:t>
            </a:r>
          </a:p>
          <a:p>
            <a:r>
              <a:rPr lang="en-US" sz="1600" dirty="0"/>
              <a:t>A bit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 err="1"/>
              <a:t>j</a:t>
            </a:r>
            <a:r>
              <a:rPr lang="en-US" sz="1600" dirty="0"/>
              <a:t> in the Input register is compared with all the bits in column </a:t>
            </a:r>
            <a:r>
              <a:rPr lang="en-US" sz="1600" b="1" dirty="0"/>
              <a:t>j</a:t>
            </a:r>
            <a:r>
              <a:rPr lang="en-US" sz="1600" dirty="0"/>
              <a:t> of the array provided that </a:t>
            </a:r>
            <a:r>
              <a:rPr lang="en-US" sz="1600" dirty="0" err="1"/>
              <a:t>M</a:t>
            </a:r>
            <a:r>
              <a:rPr lang="en-US" sz="1600" baseline="-25000" dirty="0" err="1"/>
              <a:t>j</a:t>
            </a:r>
            <a:r>
              <a:rPr lang="en-US" sz="1600" dirty="0"/>
              <a:t> = 1. </a:t>
            </a:r>
          </a:p>
          <a:p>
            <a:pPr lvl="1"/>
            <a:r>
              <a:rPr lang="en-US" sz="1200" dirty="0"/>
              <a:t>This process is done for all columns </a:t>
            </a:r>
            <a:r>
              <a:rPr lang="en-US" sz="1200" b="1" dirty="0"/>
              <a:t>j</a:t>
            </a:r>
            <a:r>
              <a:rPr lang="en-US" sz="1200" dirty="0"/>
              <a:t> = 1, 2, 3......, n.</a:t>
            </a:r>
          </a:p>
          <a:p>
            <a:r>
              <a:rPr lang="en-US" sz="1600" dirty="0"/>
              <a:t>If a match occurs between all the unmasked bits of the Input and the bits in word </a:t>
            </a:r>
            <a:r>
              <a:rPr lang="en-US" sz="1600" b="1" dirty="0" err="1"/>
              <a:t>i</a:t>
            </a:r>
            <a:r>
              <a:rPr lang="en-US" sz="1600" dirty="0"/>
              <a:t>, the corresponding bit S</a:t>
            </a:r>
            <a:r>
              <a:rPr lang="en-US" sz="1600" baseline="-25000" dirty="0"/>
              <a:t>i</a:t>
            </a:r>
            <a:r>
              <a:rPr lang="en-US" sz="1600" dirty="0"/>
              <a:t> in the match register is set to 1. </a:t>
            </a:r>
          </a:p>
          <a:p>
            <a:r>
              <a:rPr lang="en-US" sz="1600" dirty="0"/>
              <a:t>If one or more unmasked bits of the Input and the word do not match, S</a:t>
            </a:r>
            <a:r>
              <a:rPr lang="en-US" sz="1600" baseline="-25000" dirty="0"/>
              <a:t>i</a:t>
            </a:r>
            <a:r>
              <a:rPr lang="en-US" sz="1600" dirty="0"/>
              <a:t> is cleared to 0.</a:t>
            </a:r>
            <a:endParaRPr lang="en-US" sz="1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2050" name="Picture 2" descr="Associative Memory">
            <a:extLst>
              <a:ext uri="{FF2B5EF4-FFF2-40B4-BE49-F238E27FC236}">
                <a16:creationId xmlns:a16="http://schemas.microsoft.com/office/drawing/2014/main" id="{99DB2E20-0E3A-4DBE-8551-BF60F7094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839390"/>
            <a:ext cx="3729465" cy="280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AACA7A-DFFC-4EE9-80B8-4D5614CFE499}"/>
              </a:ext>
            </a:extLst>
          </p:cNvPr>
          <p:cNvSpPr txBox="1"/>
          <p:nvPr/>
        </p:nvSpPr>
        <p:spPr>
          <a:xfrm>
            <a:off x="5957180" y="1175147"/>
            <a:ext cx="282450" cy="253916"/>
          </a:xfrm>
          <a:prstGeom prst="rect">
            <a:avLst/>
          </a:prstGeom>
          <a:solidFill>
            <a:srgbClr val="D0D0D0"/>
          </a:solidFill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9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E9716-008A-4CFE-AA98-996D46F4E804}"/>
              </a:ext>
            </a:extLst>
          </p:cNvPr>
          <p:cNvSpPr txBox="1"/>
          <p:nvPr/>
        </p:nvSpPr>
        <p:spPr>
          <a:xfrm>
            <a:off x="6952884" y="1175147"/>
            <a:ext cx="264816" cy="246221"/>
          </a:xfrm>
          <a:prstGeom prst="rect">
            <a:avLst/>
          </a:prstGeom>
          <a:solidFill>
            <a:srgbClr val="D0D0D0"/>
          </a:solidFill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BFC52-3A59-48BE-9784-EF93820AB2B2}"/>
              </a:ext>
            </a:extLst>
          </p:cNvPr>
          <p:cNvSpPr txBox="1"/>
          <p:nvPr/>
        </p:nvSpPr>
        <p:spPr>
          <a:xfrm>
            <a:off x="7885888" y="1168099"/>
            <a:ext cx="282450" cy="246221"/>
          </a:xfrm>
          <a:prstGeom prst="rect">
            <a:avLst/>
          </a:prstGeom>
          <a:solidFill>
            <a:srgbClr val="D0D0D0"/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87365-7073-4E94-A137-F7791B1A9D5D}"/>
              </a:ext>
            </a:extLst>
          </p:cNvPr>
          <p:cNvSpPr txBox="1"/>
          <p:nvPr/>
        </p:nvSpPr>
        <p:spPr>
          <a:xfrm>
            <a:off x="5954132" y="1695059"/>
            <a:ext cx="356188" cy="253916"/>
          </a:xfrm>
          <a:prstGeom prst="rect">
            <a:avLst/>
          </a:prstGeom>
          <a:solidFill>
            <a:srgbClr val="D0D0D0"/>
          </a:solidFill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0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9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25188A-A961-4C21-9635-B39B8191AB77}"/>
              </a:ext>
            </a:extLst>
          </p:cNvPr>
          <p:cNvSpPr txBox="1"/>
          <p:nvPr/>
        </p:nvSpPr>
        <p:spPr>
          <a:xfrm>
            <a:off x="6858464" y="1695059"/>
            <a:ext cx="356188" cy="246221"/>
          </a:xfrm>
          <a:prstGeom prst="rect">
            <a:avLst/>
          </a:prstGeom>
          <a:solidFill>
            <a:srgbClr val="D0D0D0"/>
          </a:solidFill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688343-FE9E-4D1B-8EC1-758125BB357A}"/>
              </a:ext>
            </a:extLst>
          </p:cNvPr>
          <p:cNvSpPr txBox="1"/>
          <p:nvPr/>
        </p:nvSpPr>
        <p:spPr>
          <a:xfrm>
            <a:off x="7809102" y="1688011"/>
            <a:ext cx="356188" cy="246221"/>
          </a:xfrm>
          <a:prstGeom prst="rect">
            <a:avLst/>
          </a:prstGeom>
          <a:solidFill>
            <a:srgbClr val="D0D0D0"/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32789-22A9-4BA0-8870-D07DF94E2398}"/>
              </a:ext>
            </a:extLst>
          </p:cNvPr>
          <p:cNvSpPr txBox="1"/>
          <p:nvPr/>
        </p:nvSpPr>
        <p:spPr>
          <a:xfrm>
            <a:off x="8692623" y="2307908"/>
            <a:ext cx="304892" cy="253916"/>
          </a:xfrm>
          <a:prstGeom prst="rect">
            <a:avLst/>
          </a:prstGeom>
          <a:solidFill>
            <a:srgbClr val="D0D0D0"/>
          </a:solidFill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0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9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04D9C1-41A6-4FF2-82FB-6DF5FACEAA5E}"/>
              </a:ext>
            </a:extLst>
          </p:cNvPr>
          <p:cNvSpPr txBox="1"/>
          <p:nvPr/>
        </p:nvSpPr>
        <p:spPr>
          <a:xfrm>
            <a:off x="8686800" y="2699147"/>
            <a:ext cx="282450" cy="246221"/>
          </a:xfrm>
          <a:prstGeom prst="rect">
            <a:avLst/>
          </a:prstGeom>
          <a:solidFill>
            <a:srgbClr val="D0D0D0"/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84809-8857-4D3E-98A5-E0BAE8A807BC}"/>
              </a:ext>
            </a:extLst>
          </p:cNvPr>
          <p:cNvSpPr txBox="1"/>
          <p:nvPr/>
        </p:nvSpPr>
        <p:spPr>
          <a:xfrm>
            <a:off x="8671560" y="3187213"/>
            <a:ext cx="307340" cy="215444"/>
          </a:xfrm>
          <a:prstGeom prst="rect">
            <a:avLst/>
          </a:prstGeom>
          <a:solidFill>
            <a:srgbClr val="D0D0D0"/>
          </a:solidFill>
        </p:spPr>
        <p:txBody>
          <a:bodyPr wrap="square" rtlCol="0">
            <a:spAutoFit/>
          </a:bodyPr>
          <a:lstStyle/>
          <a:p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2B63BB-88C5-4843-96CF-3FCE031D4934}"/>
              </a:ext>
            </a:extLst>
          </p:cNvPr>
          <p:cNvCxnSpPr/>
          <p:nvPr/>
        </p:nvCxnSpPr>
        <p:spPr>
          <a:xfrm>
            <a:off x="6400800" y="132754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BDF7BD-1FDF-490A-BC55-DC368F6C32D3}"/>
              </a:ext>
            </a:extLst>
          </p:cNvPr>
          <p:cNvCxnSpPr/>
          <p:nvPr/>
        </p:nvCxnSpPr>
        <p:spPr>
          <a:xfrm>
            <a:off x="7315200" y="132754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1B52F5-F77B-4DD0-8293-4FAB79EB30B2}"/>
              </a:ext>
            </a:extLst>
          </p:cNvPr>
          <p:cNvCxnSpPr/>
          <p:nvPr/>
        </p:nvCxnSpPr>
        <p:spPr>
          <a:xfrm>
            <a:off x="6400800" y="178474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BFFBE3-574F-4922-84EB-1B9815213DF7}"/>
              </a:ext>
            </a:extLst>
          </p:cNvPr>
          <p:cNvCxnSpPr/>
          <p:nvPr/>
        </p:nvCxnSpPr>
        <p:spPr>
          <a:xfrm>
            <a:off x="7315200" y="178474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08376D-19A4-451D-AB20-C5FF709D937D}"/>
              </a:ext>
            </a:extLst>
          </p:cNvPr>
          <p:cNvCxnSpPr/>
          <p:nvPr/>
        </p:nvCxnSpPr>
        <p:spPr>
          <a:xfrm>
            <a:off x="6400800" y="247054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0508D5-1EAE-4C19-8C8B-D19335A63E58}"/>
              </a:ext>
            </a:extLst>
          </p:cNvPr>
          <p:cNvCxnSpPr/>
          <p:nvPr/>
        </p:nvCxnSpPr>
        <p:spPr>
          <a:xfrm>
            <a:off x="7315200" y="247054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369AC6-9C1E-4CAC-8693-CBFAF020AFD3}"/>
              </a:ext>
            </a:extLst>
          </p:cNvPr>
          <p:cNvCxnSpPr/>
          <p:nvPr/>
        </p:nvCxnSpPr>
        <p:spPr>
          <a:xfrm>
            <a:off x="6438900" y="282225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36F75AC-B320-474C-920A-AEE0013E001A}"/>
              </a:ext>
            </a:extLst>
          </p:cNvPr>
          <p:cNvCxnSpPr/>
          <p:nvPr/>
        </p:nvCxnSpPr>
        <p:spPr>
          <a:xfrm>
            <a:off x="7353300" y="2822257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FAF43E-1190-43A8-9817-E550DEA9B2F3}"/>
              </a:ext>
            </a:extLst>
          </p:cNvPr>
          <p:cNvCxnSpPr/>
          <p:nvPr/>
        </p:nvCxnSpPr>
        <p:spPr>
          <a:xfrm>
            <a:off x="6400800" y="3324011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8F0545-F04A-4EFD-AD66-54C7B7F9C93A}"/>
              </a:ext>
            </a:extLst>
          </p:cNvPr>
          <p:cNvCxnSpPr/>
          <p:nvPr/>
        </p:nvCxnSpPr>
        <p:spPr>
          <a:xfrm>
            <a:off x="7315200" y="3324011"/>
            <a:ext cx="381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2392F2E-46AE-487F-8354-A120A69F5878}"/>
              </a:ext>
            </a:extLst>
          </p:cNvPr>
          <p:cNvSpPr/>
          <p:nvPr/>
        </p:nvSpPr>
        <p:spPr>
          <a:xfrm>
            <a:off x="5400492" y="4041948"/>
            <a:ext cx="310478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More study: </a:t>
            </a:r>
            <a:r>
              <a:rPr lang="en-US" sz="1100" dirty="0">
                <a:hlinkClick r:id="rId3"/>
              </a:rPr>
              <a:t>https://www.youtube.com/watch?v=SV7Kk1njt5c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424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1800" dirty="0"/>
              <a:t>The associative memory </a:t>
            </a:r>
            <a:r>
              <a:rPr lang="en-US" sz="1800" dirty="0">
                <a:solidFill>
                  <a:srgbClr val="C00000"/>
                </a:solidFill>
              </a:rPr>
              <a:t>searches all of its locations in parallel and marks the locations that match the specified data input. </a:t>
            </a:r>
            <a:r>
              <a:rPr lang="en-US" sz="1800" dirty="0"/>
              <a:t>The </a:t>
            </a:r>
            <a:r>
              <a:rPr lang="en-US" sz="1800" dirty="0">
                <a:solidFill>
                  <a:srgbClr val="C00000"/>
                </a:solidFill>
              </a:rPr>
              <a:t>matching data values are then read out sequentially.</a:t>
            </a:r>
          </a:p>
          <a:p>
            <a:r>
              <a:rPr lang="en-US" sz="1800" dirty="0"/>
              <a:t>Cache memory is constructed using either static RAM or associative memory, depending on mapping scheme used. </a:t>
            </a:r>
          </a:p>
          <a:p>
            <a:r>
              <a:rPr lang="en-US" sz="1800" dirty="0"/>
              <a:t>SRAM receives an address and access the data at that address.</a:t>
            </a:r>
            <a:endParaRPr lang="en-US" sz="1800" dirty="0">
              <a:solidFill>
                <a:srgbClr val="C00000"/>
              </a:solidFill>
            </a:endParaRPr>
          </a:p>
          <a:p>
            <a:r>
              <a:rPr lang="en-US" sz="1800" dirty="0"/>
              <a:t>An associative memory is more expensive than a RAM because each cell must have storage capability as well as logic circuit for matching its contents with an external argument.</a:t>
            </a:r>
          </a:p>
          <a:p>
            <a:r>
              <a:rPr lang="en-US" sz="1800" dirty="0"/>
              <a:t>For this reason, associative memories are </a:t>
            </a:r>
            <a:r>
              <a:rPr lang="en-US" sz="1800" dirty="0">
                <a:solidFill>
                  <a:srgbClr val="C00000"/>
                </a:solidFill>
              </a:rPr>
              <a:t>used in application where search time is very critical and short.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333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Cache memory 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F75-7A7B-4341-A067-78884B19A6BD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975662-B2DE-478C-B2AC-50C2B9F2D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3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642343"/>
            <a:ext cx="5408391" cy="38516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A2203B-F625-4353-9815-5A20F3AAA685}"/>
              </a:ext>
            </a:extLst>
          </p:cNvPr>
          <p:cNvSpPr/>
          <p:nvPr/>
        </p:nvSpPr>
        <p:spPr>
          <a:xfrm>
            <a:off x="2032288" y="4393408"/>
            <a:ext cx="4703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Fig: Internal organization of Associative 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BFFEC7-D3EF-4172-B06C-3A79AB5060C2}"/>
              </a:ext>
            </a:extLst>
          </p:cNvPr>
          <p:cNvSpPr/>
          <p:nvPr/>
        </p:nvSpPr>
        <p:spPr>
          <a:xfrm>
            <a:off x="5865591" y="1656904"/>
            <a:ext cx="3104784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b="1" dirty="0"/>
              <a:t>Note: This is book’s diagram.</a:t>
            </a:r>
          </a:p>
          <a:p>
            <a:r>
              <a:rPr lang="en-US" b="1" dirty="0"/>
              <a:t>Please refer book.</a:t>
            </a:r>
          </a:p>
        </p:txBody>
      </p:sp>
    </p:spTree>
    <p:extLst>
      <p:ext uri="{BB962C8B-B14F-4D97-AF65-F5344CB8AC3E}">
        <p14:creationId xmlns:p14="http://schemas.microsoft.com/office/powerpoint/2010/main" val="390726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7.3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Autofit/>
          </a:bodyPr>
          <a:lstStyle/>
          <a:p>
            <a:r>
              <a:rPr lang="en-US" sz="1800" dirty="0"/>
              <a:t>Cache memory is a small-sized type of volatile computer memory that </a:t>
            </a:r>
            <a:r>
              <a:rPr lang="en-US" sz="1800" dirty="0">
                <a:solidFill>
                  <a:srgbClr val="C00000"/>
                </a:solidFill>
              </a:rPr>
              <a:t>provides high-speed data access to a processor </a:t>
            </a:r>
            <a:r>
              <a:rPr lang="en-US" sz="1800" dirty="0"/>
              <a:t>and stores frequently used computer programs, applications and data.</a:t>
            </a:r>
          </a:p>
          <a:p>
            <a:r>
              <a:rPr lang="en-US" sz="1800" dirty="0"/>
              <a:t>It is the </a:t>
            </a:r>
            <a:r>
              <a:rPr lang="en-US" sz="1800" dirty="0">
                <a:solidFill>
                  <a:srgbClr val="C00000"/>
                </a:solidFill>
              </a:rPr>
              <a:t>fastest memory </a:t>
            </a:r>
            <a:r>
              <a:rPr lang="en-US" sz="1800" dirty="0"/>
              <a:t>in a computer, and is typically integrated onto the motherboard and directly embedded in the processor or main random-access memory </a:t>
            </a:r>
            <a:r>
              <a:rPr lang="en-US" sz="1800" b="1" dirty="0"/>
              <a:t>(RAM).</a:t>
            </a:r>
            <a:endParaRPr lang="en-US" sz="1800" dirty="0"/>
          </a:p>
          <a:p>
            <a:r>
              <a:rPr lang="en-US" sz="1800" dirty="0"/>
              <a:t>Cache is </a:t>
            </a:r>
            <a:r>
              <a:rPr lang="en-US" sz="1800" dirty="0">
                <a:solidFill>
                  <a:srgbClr val="C00000"/>
                </a:solidFill>
              </a:rPr>
              <a:t>usually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00000"/>
                </a:solidFill>
              </a:rPr>
              <a:t>designed using static RAM </a:t>
            </a:r>
            <a:r>
              <a:rPr lang="en-US" sz="1800" dirty="0"/>
              <a:t>rather than dynamic RAM, which is one reason that cache is more </a:t>
            </a:r>
            <a:r>
              <a:rPr lang="en-US" sz="1800" dirty="0">
                <a:solidFill>
                  <a:srgbClr val="C00000"/>
                </a:solidFill>
              </a:rPr>
              <a:t>expensive</a:t>
            </a:r>
            <a:r>
              <a:rPr lang="en-US" sz="1800" dirty="0"/>
              <a:t> but faster than main memory.</a:t>
            </a:r>
          </a:p>
          <a:p>
            <a:r>
              <a:rPr lang="en-US" sz="1800" dirty="0"/>
              <a:t>When the processor attempts to read a word of memory, a check is made to determine if the word is in the cache. </a:t>
            </a:r>
          </a:p>
          <a:p>
            <a:pPr lvl="1"/>
            <a:r>
              <a:rPr lang="en-US" sz="1400" dirty="0"/>
              <a:t>If so, the word is delivered to the processor </a:t>
            </a:r>
            <a:r>
              <a:rPr lang="en-US" sz="1400" dirty="0">
                <a:solidFill>
                  <a:srgbClr val="C00000"/>
                </a:solidFill>
              </a:rPr>
              <a:t>(</a:t>
            </a:r>
            <a:r>
              <a:rPr lang="en-US" sz="1400" dirty="0" err="1">
                <a:solidFill>
                  <a:srgbClr val="C00000"/>
                </a:solidFill>
              </a:rPr>
              <a:t>ie</a:t>
            </a:r>
            <a:r>
              <a:rPr lang="en-US" sz="1400" dirty="0">
                <a:solidFill>
                  <a:srgbClr val="C00000"/>
                </a:solidFill>
              </a:rPr>
              <a:t>. Cache Hit).</a:t>
            </a:r>
          </a:p>
          <a:p>
            <a:pPr lvl="1"/>
            <a:r>
              <a:rPr lang="en-US" sz="1400" dirty="0"/>
              <a:t>If not </a:t>
            </a:r>
            <a:r>
              <a:rPr lang="en-US" sz="1400" dirty="0">
                <a:solidFill>
                  <a:srgbClr val="C00000"/>
                </a:solidFill>
              </a:rPr>
              <a:t>(</a:t>
            </a:r>
            <a:r>
              <a:rPr lang="en-US" sz="1400" dirty="0" err="1">
                <a:solidFill>
                  <a:srgbClr val="C00000"/>
                </a:solidFill>
              </a:rPr>
              <a:t>ie</a:t>
            </a:r>
            <a:r>
              <a:rPr lang="en-US" sz="1400" dirty="0">
                <a:solidFill>
                  <a:srgbClr val="C00000"/>
                </a:solidFill>
              </a:rPr>
              <a:t>. Cache Miss)</a:t>
            </a:r>
            <a:r>
              <a:rPr lang="en-US" sz="1400" dirty="0"/>
              <a:t>, a block of main memory, consisting of fixed number of words is read into the cache and then the word is delivered to the processor. 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88E0-3194-4195-A11B-D153B87B433F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852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038600" cy="385167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1600" dirty="0"/>
              <a:t>Cache connects to the processor via data control and address line. </a:t>
            </a:r>
          </a:p>
          <a:p>
            <a:pPr lvl="0"/>
            <a:r>
              <a:rPr lang="en-US" sz="1600" dirty="0"/>
              <a:t>The data and address lines also attached to data and address buffer which attached to a system bus from which main memory is reached.</a:t>
            </a:r>
          </a:p>
          <a:p>
            <a:pPr lvl="0"/>
            <a:r>
              <a:rPr lang="en-US" sz="1600" dirty="0"/>
              <a:t>When a </a:t>
            </a:r>
            <a:r>
              <a:rPr lang="en-US" sz="1600" dirty="0">
                <a:solidFill>
                  <a:srgbClr val="C00000"/>
                </a:solidFill>
              </a:rPr>
              <a:t>cache hit </a:t>
            </a:r>
            <a:r>
              <a:rPr lang="en-US" sz="1600" dirty="0"/>
              <a:t>occurs, the data and address buffers are disabled and the </a:t>
            </a:r>
            <a:r>
              <a:rPr lang="en-US" sz="1600" dirty="0">
                <a:solidFill>
                  <a:srgbClr val="C00000"/>
                </a:solidFill>
              </a:rPr>
              <a:t>communication is only between processor and cache </a:t>
            </a:r>
            <a:r>
              <a:rPr lang="en-US" sz="1600" dirty="0"/>
              <a:t>with no system bus traffic.</a:t>
            </a:r>
          </a:p>
          <a:p>
            <a:pPr lvl="0"/>
            <a:r>
              <a:rPr lang="en-US" sz="1600" dirty="0"/>
              <a:t>When a </a:t>
            </a:r>
            <a:r>
              <a:rPr lang="en-US" sz="1600" dirty="0">
                <a:solidFill>
                  <a:srgbClr val="C00000"/>
                </a:solidFill>
              </a:rPr>
              <a:t>cache miss </a:t>
            </a:r>
            <a:r>
              <a:rPr lang="en-US" sz="1600" dirty="0"/>
              <a:t>occurs, the </a:t>
            </a:r>
            <a:r>
              <a:rPr lang="en-US" sz="1600" dirty="0">
                <a:solidFill>
                  <a:srgbClr val="C00000"/>
                </a:solidFill>
              </a:rPr>
              <a:t>desired word is first read into the cache </a:t>
            </a:r>
            <a:r>
              <a:rPr lang="en-US" sz="1600" dirty="0"/>
              <a:t>and </a:t>
            </a:r>
            <a:r>
              <a:rPr lang="en-US" sz="1600" dirty="0">
                <a:solidFill>
                  <a:srgbClr val="C00000"/>
                </a:solidFill>
              </a:rPr>
              <a:t>then transferred from cache to processor</a:t>
            </a:r>
            <a:r>
              <a:rPr lang="en-US" sz="1600" dirty="0"/>
              <a:t>. For later case, the cache is physically interposed between the processor and main memory for all data, address and control lines.</a:t>
            </a:r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7CA-9578-420B-85A5-E4C47CAD4FA2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54D71-76EA-4FEA-A426-A2B535B921F3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6000"/>
                    </a14:imgEffect>
                  </a14:imgLayer>
                </a14:imgProps>
              </a:ext>
            </a:extLst>
          </a:blip>
          <a:srcRect b="8430"/>
          <a:stretch/>
        </p:blipFill>
        <p:spPr bwMode="auto">
          <a:xfrm>
            <a:off x="4572000" y="428664"/>
            <a:ext cx="4267200" cy="367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63E941-F63F-407C-AF3D-87A971404FBF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6000"/>
                    </a14:imgEffect>
                  </a14:imgLayer>
                </a14:imgProps>
              </a:ext>
            </a:extLst>
          </a:blip>
          <a:srcRect l="15715" t="92528" r="52857" b="-410"/>
          <a:stretch/>
        </p:blipFill>
        <p:spPr bwMode="auto">
          <a:xfrm>
            <a:off x="6019800" y="4236704"/>
            <a:ext cx="1676400" cy="342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68976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Structure of Cache and Main memory: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4869329" cy="3851673"/>
          </a:xfrm>
        </p:spPr>
        <p:txBody>
          <a:bodyPr>
            <a:normAutofit/>
          </a:bodyPr>
          <a:lstStyle/>
          <a:p>
            <a:pPr lvl="0"/>
            <a:r>
              <a:rPr lang="en-US" sz="1600" dirty="0"/>
              <a:t>Memory is represented as m x n.</a:t>
            </a:r>
          </a:p>
          <a:p>
            <a:pPr lvl="1"/>
            <a:r>
              <a:rPr lang="en-US" sz="1400" dirty="0"/>
              <a:t>Where m is no of words, and n is no of bits in each word.</a:t>
            </a:r>
          </a:p>
          <a:p>
            <a:pPr lvl="1"/>
            <a:r>
              <a:rPr lang="en-US" sz="1400" dirty="0"/>
              <a:t>Memory consists of fixed length word size.</a:t>
            </a:r>
          </a:p>
          <a:p>
            <a:pPr lvl="1"/>
            <a:r>
              <a:rPr lang="en-US" sz="1400" dirty="0"/>
              <a:t>Address lines = log</a:t>
            </a:r>
            <a:r>
              <a:rPr lang="en-US" sz="1400" baseline="-25000" dirty="0"/>
              <a:t>2</a:t>
            </a:r>
            <a:r>
              <a:rPr lang="en-US" sz="1400" dirty="0"/>
              <a:t>(m)</a:t>
            </a:r>
          </a:p>
          <a:p>
            <a:pPr lvl="1"/>
            <a:r>
              <a:rPr lang="en-US" sz="1400" dirty="0"/>
              <a:t>Group of words is called a block.</a:t>
            </a:r>
          </a:p>
          <a:p>
            <a:pPr lvl="1"/>
            <a:r>
              <a:rPr lang="en-US" sz="1400" dirty="0"/>
              <a:t>Each block consists of  K words, each being fixed length.</a:t>
            </a:r>
          </a:p>
          <a:p>
            <a:pPr lvl="1"/>
            <a:r>
              <a:rPr lang="en-US" sz="1400" dirty="0"/>
              <a:t>No of blocks i.e. B = m/K   blocks.  </a:t>
            </a:r>
            <a:endParaRPr lang="en-US" sz="1600" dirty="0"/>
          </a:p>
          <a:p>
            <a:pPr lvl="0"/>
            <a:r>
              <a:rPr lang="en-US" sz="1600" dirty="0"/>
              <a:t>Cache consists of </a:t>
            </a:r>
            <a:r>
              <a:rPr lang="en-US" sz="1600" dirty="0">
                <a:solidFill>
                  <a:srgbClr val="C00000"/>
                </a:solidFill>
              </a:rPr>
              <a:t>C lines </a:t>
            </a:r>
            <a:r>
              <a:rPr lang="en-US" sz="1600" dirty="0"/>
              <a:t>of K words each.</a:t>
            </a:r>
          </a:p>
          <a:p>
            <a:pPr lvl="1"/>
            <a:r>
              <a:rPr lang="en-US" sz="1400" dirty="0"/>
              <a:t>Each line contains K </a:t>
            </a:r>
            <a:r>
              <a:rPr lang="en-US" sz="1400" dirty="0">
                <a:solidFill>
                  <a:srgbClr val="C00000"/>
                </a:solidFill>
              </a:rPr>
              <a:t>words</a:t>
            </a:r>
            <a:r>
              <a:rPr lang="en-US" sz="1400" dirty="0"/>
              <a:t>, plus a </a:t>
            </a:r>
            <a:r>
              <a:rPr lang="en-US" sz="1400" dirty="0">
                <a:solidFill>
                  <a:srgbClr val="C00000"/>
                </a:solidFill>
              </a:rPr>
              <a:t>tag</a:t>
            </a:r>
            <a:r>
              <a:rPr lang="en-US" sz="1400" dirty="0"/>
              <a:t> of a few bits.</a:t>
            </a:r>
          </a:p>
          <a:p>
            <a:pPr lvl="1"/>
            <a:r>
              <a:rPr lang="en-US" sz="1400" dirty="0"/>
              <a:t>The </a:t>
            </a:r>
            <a:r>
              <a:rPr lang="en-US" sz="1400" dirty="0">
                <a:solidFill>
                  <a:srgbClr val="C00000"/>
                </a:solidFill>
              </a:rPr>
              <a:t>tag is usually a portion of the main memory address.</a:t>
            </a:r>
          </a:p>
          <a:p>
            <a:pPr lvl="1"/>
            <a:r>
              <a:rPr lang="en-US" sz="1400" dirty="0"/>
              <a:t>The number of lines (C) of cache is </a:t>
            </a:r>
            <a:r>
              <a:rPr lang="en-US" sz="1400" dirty="0">
                <a:solidFill>
                  <a:srgbClr val="C00000"/>
                </a:solidFill>
              </a:rPr>
              <a:t>less than </a:t>
            </a:r>
            <a:r>
              <a:rPr lang="en-US" sz="1400" dirty="0"/>
              <a:t>the number of main memory blocks (B).</a:t>
            </a:r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F5CE-595A-461E-BA3D-EA434E54AAC8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4B9DC2-ADB6-4485-AB56-012872170F61}"/>
              </a:ext>
            </a:extLst>
          </p:cNvPr>
          <p:cNvPicPr/>
          <p:nvPr/>
        </p:nvPicPr>
        <p:blipFill>
          <a:blip r:embed="rId2"/>
          <a:srcRect b="4623"/>
          <a:stretch>
            <a:fillRect/>
          </a:stretch>
        </p:blipFill>
        <p:spPr bwMode="auto">
          <a:xfrm>
            <a:off x="5326529" y="665629"/>
            <a:ext cx="3378200" cy="390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7E9FCE-90FA-41E3-A4D6-D15F75627500}"/>
              </a:ext>
            </a:extLst>
          </p:cNvPr>
          <p:cNvSpPr txBox="1"/>
          <p:nvPr/>
        </p:nvSpPr>
        <p:spPr>
          <a:xfrm>
            <a:off x="7291064" y="3867150"/>
            <a:ext cx="328936" cy="20005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700" i="1" dirty="0"/>
              <a:t>m-1</a:t>
            </a:r>
          </a:p>
        </p:txBody>
      </p:sp>
    </p:spTree>
    <p:extLst>
      <p:ext uri="{BB962C8B-B14F-4D97-AF65-F5344CB8AC3E}">
        <p14:creationId xmlns:p14="http://schemas.microsoft.com/office/powerpoint/2010/main" val="1361348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FCBAB-DC53-4ED6-8251-B1233CEF5483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CBEC29-5893-41A2-AB7D-963E14D89D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671" b="42873"/>
          <a:stretch/>
        </p:blipFill>
        <p:spPr>
          <a:xfrm>
            <a:off x="4343400" y="666750"/>
            <a:ext cx="1524000" cy="1774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D20405-4D92-4F2C-82B7-B66E19F07C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599"/>
          <a:stretch/>
        </p:blipFill>
        <p:spPr>
          <a:xfrm>
            <a:off x="6172200" y="742950"/>
            <a:ext cx="2551255" cy="310583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85A97C8-2E79-4763-B6EC-5288A52C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42950"/>
            <a:ext cx="3352801" cy="3851673"/>
          </a:xfrm>
        </p:spPr>
        <p:txBody>
          <a:bodyPr>
            <a:normAutofit/>
          </a:bodyPr>
          <a:lstStyle/>
          <a:p>
            <a:pPr lvl="0"/>
            <a:r>
              <a:rPr lang="en-US" sz="1600" dirty="0"/>
              <a:t>Consider a 64x8 memory</a:t>
            </a:r>
          </a:p>
          <a:p>
            <a:pPr lvl="1"/>
            <a:r>
              <a:rPr lang="en-US" sz="1400" dirty="0"/>
              <a:t>Here, No of words (m) = 64</a:t>
            </a:r>
          </a:p>
          <a:p>
            <a:pPr lvl="1"/>
            <a:r>
              <a:rPr lang="en-US" sz="1400" dirty="0"/>
              <a:t>and n is no of bits in each word (n) = 8</a:t>
            </a:r>
          </a:p>
          <a:p>
            <a:pPr lvl="1"/>
            <a:r>
              <a:rPr lang="en-US" sz="1400" dirty="0"/>
              <a:t>Address lines = log</a:t>
            </a:r>
            <a:r>
              <a:rPr lang="en-US" sz="1400" baseline="-25000" dirty="0"/>
              <a:t>2</a:t>
            </a:r>
            <a:r>
              <a:rPr lang="en-US" sz="1400" dirty="0"/>
              <a:t>(64) = 5</a:t>
            </a:r>
          </a:p>
          <a:p>
            <a:pPr lvl="1"/>
            <a:r>
              <a:rPr lang="en-US" sz="1400" dirty="0"/>
              <a:t>Here, block size = 4</a:t>
            </a:r>
          </a:p>
          <a:p>
            <a:pPr lvl="1"/>
            <a:r>
              <a:rPr lang="en-US" sz="1400" dirty="0"/>
              <a:t>No of block = 64/4 = 16</a:t>
            </a:r>
          </a:p>
          <a:p>
            <a:pPr lvl="1"/>
            <a:endParaRPr lang="en-US" sz="1600" dirty="0"/>
          </a:p>
          <a:p>
            <a:pPr lvl="0"/>
            <a:r>
              <a:rPr lang="en-US" sz="1600" dirty="0"/>
              <a:t>Consider a cache of 4 lines</a:t>
            </a:r>
          </a:p>
          <a:p>
            <a:pPr lvl="1"/>
            <a:r>
              <a:rPr lang="en-US" sz="1400" dirty="0"/>
              <a:t>Each line contains 4 </a:t>
            </a:r>
            <a:r>
              <a:rPr lang="en-US" sz="1400" dirty="0">
                <a:solidFill>
                  <a:srgbClr val="C00000"/>
                </a:solidFill>
              </a:rPr>
              <a:t>words</a:t>
            </a:r>
            <a:r>
              <a:rPr lang="en-US" sz="1400" dirty="0"/>
              <a:t>, plus a </a:t>
            </a:r>
            <a:r>
              <a:rPr lang="en-US" sz="1400" dirty="0">
                <a:solidFill>
                  <a:srgbClr val="C00000"/>
                </a:solidFill>
              </a:rPr>
              <a:t>tag</a:t>
            </a:r>
            <a:r>
              <a:rPr lang="en-US" sz="1400" dirty="0"/>
              <a:t> 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2632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FCBAB-DC53-4ED6-8251-B1233CEF5483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6" name="Picture 2" descr="Direct-Mapped Cache and its architecture">
            <a:extLst>
              <a:ext uri="{FF2B5EF4-FFF2-40B4-BE49-F238E27FC236}">
                <a16:creationId xmlns:a16="http://schemas.microsoft.com/office/drawing/2014/main" id="{15028413-7EF1-4DE1-B261-C95042AC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328613"/>
            <a:ext cx="6181725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D82FC2-5592-4217-A3CC-78795884DEAE}"/>
              </a:ext>
            </a:extLst>
          </p:cNvPr>
          <p:cNvSpPr/>
          <p:nvPr/>
        </p:nvSpPr>
        <p:spPr>
          <a:xfrm>
            <a:off x="1981200" y="971550"/>
            <a:ext cx="20574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4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7.3 Cache Mapping Techniques: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transformation of data from main memory to cache memory is referred to as memory mapping process. </a:t>
            </a:r>
          </a:p>
          <a:p>
            <a:pPr lvl="0"/>
            <a:r>
              <a:rPr lang="en-US" sz="2400" dirty="0"/>
              <a:t>Because there are fewer cache lines than main memory blocks, an algorithm is needed for mapping main memory blocks into cache lines. </a:t>
            </a:r>
          </a:p>
          <a:p>
            <a:r>
              <a:rPr lang="en-US" sz="2400" dirty="0"/>
              <a:t>There are three different types of mapping functions in common use and are:</a:t>
            </a:r>
          </a:p>
          <a:p>
            <a:pPr lvl="1"/>
            <a:r>
              <a:rPr lang="en-US" sz="2000" dirty="0"/>
              <a:t>direct, associative and set associative. 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FCBAB-DC53-4ED6-8251-B1233CEF5483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073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1. Direct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419600" cy="3851673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 lnSpcReduction="10000"/>
          </a:bodyPr>
          <a:lstStyle/>
          <a:p>
            <a:pPr marL="168275" lvl="0" indent="-168275"/>
            <a:r>
              <a:rPr lang="en-US" sz="1200" dirty="0"/>
              <a:t>It is the simplest mapping technique.</a:t>
            </a:r>
          </a:p>
          <a:p>
            <a:pPr marL="168275" lvl="0" indent="-168275"/>
            <a:r>
              <a:rPr lang="en-US" sz="1200" dirty="0"/>
              <a:t>It </a:t>
            </a:r>
            <a:r>
              <a:rPr lang="en-US" sz="1200" dirty="0">
                <a:solidFill>
                  <a:srgbClr val="C00000"/>
                </a:solidFill>
              </a:rPr>
              <a:t>maps certain block of main memory into only one possible cache line</a:t>
            </a:r>
            <a:r>
              <a:rPr lang="en-US" sz="1200" dirty="0"/>
              <a:t>, i.e. a given main memory block can be placed in one and only one place on cache.</a:t>
            </a:r>
          </a:p>
          <a:p>
            <a:pPr marL="168275" lvl="0" indent="-168275"/>
            <a:r>
              <a:rPr lang="en-US" sz="1200" dirty="0"/>
              <a:t>It implements </a:t>
            </a:r>
            <a:r>
              <a:rPr lang="en-US" sz="1200" dirty="0">
                <a:solidFill>
                  <a:srgbClr val="C00000"/>
                </a:solidFill>
              </a:rPr>
              <a:t>one-to-many function</a:t>
            </a:r>
            <a:r>
              <a:rPr lang="en-US" sz="1200" dirty="0"/>
              <a:t>, i.e., one cache line can map many blocks of memory.</a:t>
            </a:r>
          </a:p>
          <a:p>
            <a:pPr marL="168275" lvl="0" indent="-168275"/>
            <a:r>
              <a:rPr lang="en-US" sz="1200" dirty="0"/>
              <a:t>The cache line no can be calculated as:</a:t>
            </a:r>
          </a:p>
          <a:p>
            <a:pPr marL="168275" indent="-168275">
              <a:buNone/>
            </a:pPr>
            <a:r>
              <a:rPr lang="en-US" sz="1200" dirty="0"/>
              <a:t>	</a:t>
            </a:r>
            <a:r>
              <a:rPr lang="en-US" sz="1200" dirty="0" err="1">
                <a:solidFill>
                  <a:srgbClr val="C00000"/>
                </a:solidFill>
              </a:rPr>
              <a:t>i</a:t>
            </a:r>
            <a:r>
              <a:rPr lang="en-US" sz="1200" dirty="0">
                <a:solidFill>
                  <a:srgbClr val="C00000"/>
                </a:solidFill>
              </a:rPr>
              <a:t> = j MOD m</a:t>
            </a:r>
          </a:p>
          <a:p>
            <a:pPr marL="168275" indent="-168275">
              <a:buNone/>
              <a:tabLst>
                <a:tab pos="457200" algn="l"/>
                <a:tab pos="625475" algn="l"/>
              </a:tabLst>
            </a:pPr>
            <a:r>
              <a:rPr lang="en-US" sz="1200" dirty="0"/>
              <a:t>	</a:t>
            </a:r>
            <a:r>
              <a:rPr lang="en-US" sz="900" dirty="0"/>
              <a:t>Where,	</a:t>
            </a:r>
            <a:r>
              <a:rPr lang="en-US" sz="900" dirty="0" err="1"/>
              <a:t>i</a:t>
            </a:r>
            <a:r>
              <a:rPr lang="en-US" sz="900" dirty="0"/>
              <a:t> = cache line number;     </a:t>
            </a:r>
          </a:p>
          <a:p>
            <a:pPr marL="168275" indent="-168275">
              <a:buNone/>
              <a:tabLst>
                <a:tab pos="457200" algn="l"/>
                <a:tab pos="625475" algn="l"/>
              </a:tabLst>
            </a:pPr>
            <a:r>
              <a:rPr lang="en-US" sz="900" dirty="0"/>
              <a:t>			j = main memory block number;     </a:t>
            </a:r>
          </a:p>
          <a:p>
            <a:pPr marL="168275" indent="-168275">
              <a:buNone/>
              <a:tabLst>
                <a:tab pos="457200" algn="l"/>
                <a:tab pos="625475" algn="l"/>
              </a:tabLst>
            </a:pPr>
            <a:r>
              <a:rPr lang="en-US" sz="900" dirty="0"/>
              <a:t>			m = number of lines in the cache</a:t>
            </a:r>
            <a:endParaRPr lang="en-US" sz="2000" dirty="0"/>
          </a:p>
          <a:p>
            <a:pPr marL="168275" indent="-168275"/>
            <a:r>
              <a:rPr lang="en-US" sz="1200" dirty="0"/>
              <a:t>For e.g., if there are 16 blocks of main memory and 4 cache lines, and if we need to identify which cache line maps the block no 14 of the main memory.</a:t>
            </a:r>
          </a:p>
          <a:p>
            <a:pPr marL="457200" lvl="1" indent="-168275"/>
            <a:r>
              <a:rPr lang="en-US" sz="1100" dirty="0"/>
              <a:t>Here, </a:t>
            </a:r>
            <a:r>
              <a:rPr lang="en-US" sz="1100" dirty="0" err="1"/>
              <a:t>i</a:t>
            </a:r>
            <a:r>
              <a:rPr lang="en-US" sz="1100" dirty="0"/>
              <a:t> = 14 MOD 4 =2</a:t>
            </a:r>
          </a:p>
          <a:p>
            <a:pPr marL="457200" lvl="1" indent="-168275"/>
            <a:r>
              <a:rPr lang="en-US" sz="1100" dirty="0"/>
              <a:t>So, the block no 14 of the main memory is mapped by cache line no 2.</a:t>
            </a:r>
          </a:p>
          <a:p>
            <a:pPr marL="168275" indent="-168275"/>
            <a:r>
              <a:rPr lang="en-US" sz="1200" dirty="0"/>
              <a:t>Here, memory consists of 16 blocks of each containing 4 words in an array (say Block 0 has words 0,1,2,3 and Block 1 has 4,5,6,7….Block  15 has 60,61,62,63). </a:t>
            </a:r>
          </a:p>
          <a:p>
            <a:pPr marL="168275" indent="-168275"/>
            <a:r>
              <a:rPr lang="en-US" sz="1200" dirty="0"/>
              <a:t>Similarly, each cache line maps 4 blocks of memory.</a:t>
            </a:r>
          </a:p>
          <a:p>
            <a:pPr marL="168275" lvl="0" indent="-168275"/>
            <a:endParaRPr lang="en-US" sz="1600" dirty="0"/>
          </a:p>
          <a:p>
            <a:pPr marL="168275" indent="-168275"/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3389-BA27-4423-8593-C6D28E7074BC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6DAED4-B8D6-462D-9BB2-5DEE86D33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086830"/>
            <a:ext cx="4114800" cy="2449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6B091A-8DFA-4DD2-9EF7-A498CB115F93}"/>
              </a:ext>
            </a:extLst>
          </p:cNvPr>
          <p:cNvSpPr txBox="1"/>
          <p:nvPr/>
        </p:nvSpPr>
        <p:spPr>
          <a:xfrm>
            <a:off x="6629400" y="3943350"/>
            <a:ext cx="1685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Fig: Direct Cache Mapping</a:t>
            </a:r>
          </a:p>
        </p:txBody>
      </p:sp>
    </p:spTree>
    <p:extLst>
      <p:ext uri="{BB962C8B-B14F-4D97-AF65-F5344CB8AC3E}">
        <p14:creationId xmlns:p14="http://schemas.microsoft.com/office/powerpoint/2010/main" val="255897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1. Direct Mapping (Contd.)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267200" cy="3851673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1200" dirty="0"/>
              <a:t> Each physical address generated by the CPU is viewed as three fields: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200" dirty="0"/>
              <a:t>For </a:t>
            </a:r>
            <a:r>
              <a:rPr lang="en-US" sz="1200" dirty="0" err="1"/>
              <a:t>eg</a:t>
            </a:r>
            <a:r>
              <a:rPr lang="en-US" sz="1200" dirty="0"/>
              <a:t>, if CPU generates a 6 bit address 000101, it is viewed as:</a:t>
            </a:r>
          </a:p>
          <a:p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lvl="1"/>
            <a:r>
              <a:rPr lang="en-US" sz="1200" dirty="0"/>
              <a:t>This tells to look at cache line no 1 tagged as 00 at its second index if desired address is present.</a:t>
            </a:r>
          </a:p>
          <a:p>
            <a:r>
              <a:rPr lang="en-US" sz="1200" dirty="0"/>
              <a:t>So, a </a:t>
            </a:r>
            <a:r>
              <a:rPr lang="en-US" sz="1200" b="1" dirty="0"/>
              <a:t>2-bit tag </a:t>
            </a:r>
            <a:r>
              <a:rPr lang="en-US" sz="1200" dirty="0"/>
              <a:t>is enough to identify the block of memory in this case.</a:t>
            </a:r>
          </a:p>
          <a:p>
            <a:pPr lvl="0"/>
            <a:r>
              <a:rPr lang="en-US" sz="1200" dirty="0"/>
              <a:t>If the search is matched, this is a cache hit. But if the search does not match, then it is a miss.</a:t>
            </a:r>
          </a:p>
          <a:p>
            <a:pPr lvl="0"/>
            <a:endParaRPr lang="en-US" sz="1200" dirty="0"/>
          </a:p>
          <a:p>
            <a:pPr lvl="0"/>
            <a:r>
              <a:rPr lang="en-US" sz="1200" b="1" dirty="0"/>
              <a:t>Advantage</a:t>
            </a:r>
            <a:r>
              <a:rPr lang="en-US" sz="1200" dirty="0"/>
              <a:t>: easy to implement</a:t>
            </a:r>
          </a:p>
          <a:p>
            <a:pPr lvl="0"/>
            <a:r>
              <a:rPr lang="en-US" sz="1200" b="1" dirty="0"/>
              <a:t>Disadvantage</a:t>
            </a:r>
            <a:r>
              <a:rPr lang="en-US" sz="1200" dirty="0"/>
              <a:t>: not flexible, contention problem</a:t>
            </a:r>
          </a:p>
          <a:p>
            <a:pPr lvl="0"/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FC92-5C08-4F74-9B65-7A0D8C7F7CC4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C73D4-9C32-48C1-BE7C-4CE848E9E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2140444"/>
            <a:ext cx="2691063" cy="36577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5FF189-9F97-4839-AB72-B4760508B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56396"/>
              </p:ext>
            </p:extLst>
          </p:nvPr>
        </p:nvGraphicFramePr>
        <p:xfrm>
          <a:off x="1142999" y="1348850"/>
          <a:ext cx="2895601" cy="300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6639">
                  <a:extLst>
                    <a:ext uri="{9D8B030D-6E8A-4147-A177-3AD203B41FA5}">
                      <a16:colId xmlns:a16="http://schemas.microsoft.com/office/drawing/2014/main" val="1902218957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849016001"/>
                    </a:ext>
                  </a:extLst>
                </a:gridCol>
                <a:gridCol w="946639">
                  <a:extLst>
                    <a:ext uri="{9D8B030D-6E8A-4147-A177-3AD203B41FA5}">
                      <a16:colId xmlns:a16="http://schemas.microsoft.com/office/drawing/2014/main" val="3801187167"/>
                    </a:ext>
                  </a:extLst>
                </a:gridCol>
              </a:tblGrid>
              <a:tr h="3006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Cache tag bits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Cache line 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Word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325823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50DDF34-AD68-48FB-91C7-5D9B93768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086830"/>
            <a:ext cx="4114800" cy="24490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D17473-897F-486C-9DFD-71B746EAE0DC}"/>
              </a:ext>
            </a:extLst>
          </p:cNvPr>
          <p:cNvSpPr/>
          <p:nvPr/>
        </p:nvSpPr>
        <p:spPr>
          <a:xfrm>
            <a:off x="1295400" y="4610230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800" dirty="0"/>
              <a:t>Contention is </a:t>
            </a:r>
            <a:r>
              <a:rPr lang="en-US" sz="800" b="1" dirty="0"/>
              <a:t>what happens when demand for a shared resource exceeds the supply</a:t>
            </a:r>
            <a:endParaRPr 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3BDEE-0A3F-41B9-963C-CAA86707433F}"/>
              </a:ext>
            </a:extLst>
          </p:cNvPr>
          <p:cNvSpPr txBox="1"/>
          <p:nvPr/>
        </p:nvSpPr>
        <p:spPr>
          <a:xfrm>
            <a:off x="6629400" y="3943350"/>
            <a:ext cx="1685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Fig: Direct Cache Mapping</a:t>
            </a:r>
          </a:p>
        </p:txBody>
      </p:sp>
    </p:spTree>
    <p:extLst>
      <p:ext uri="{BB962C8B-B14F-4D97-AF65-F5344CB8AC3E}">
        <p14:creationId xmlns:p14="http://schemas.microsoft.com/office/powerpoint/2010/main" val="3774449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2. Associative Mapping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419600" cy="4024313"/>
          </a:xfrm>
        </p:spPr>
        <p:txBody>
          <a:bodyPr>
            <a:noAutofit/>
          </a:bodyPr>
          <a:lstStyle/>
          <a:p>
            <a:pPr marL="168275" lvl="0" indent="-168275"/>
            <a:r>
              <a:rPr lang="en-US" sz="1100" dirty="0"/>
              <a:t>This is a much more flexible mapping technique.</a:t>
            </a:r>
          </a:p>
          <a:p>
            <a:pPr marL="168275" lvl="0" indent="-168275"/>
            <a:r>
              <a:rPr lang="en-US" sz="1100" dirty="0"/>
              <a:t>Any main memory block can be loaded to any cache line position.</a:t>
            </a:r>
          </a:p>
          <a:p>
            <a:pPr marL="168275" lvl="0" indent="-168275"/>
            <a:r>
              <a:rPr lang="en-US" sz="1100" dirty="0"/>
              <a:t>It implements many-to-many function.</a:t>
            </a:r>
          </a:p>
          <a:p>
            <a:pPr marL="168275" lvl="0" indent="-168275"/>
            <a:r>
              <a:rPr lang="en-US" sz="1100" b="1" dirty="0"/>
              <a:t>Advantage:  </a:t>
            </a:r>
            <a:r>
              <a:rPr lang="en-US" sz="1100" dirty="0"/>
              <a:t>flexibility</a:t>
            </a:r>
          </a:p>
          <a:p>
            <a:pPr marL="168275" lvl="0" indent="-168275"/>
            <a:r>
              <a:rPr lang="en-US" sz="1100" b="1" dirty="0"/>
              <a:t>Disadvantage:  </a:t>
            </a:r>
            <a:r>
              <a:rPr lang="en-US" sz="1100" dirty="0"/>
              <a:t>increased hardware cost, increased access time</a:t>
            </a:r>
          </a:p>
          <a:p>
            <a:pPr marL="168275" lvl="0" indent="-168275"/>
            <a:r>
              <a:rPr lang="en-US" sz="1100" dirty="0"/>
              <a:t>Each physical address generated by the CPU is viewed as two fields:</a:t>
            </a:r>
          </a:p>
          <a:p>
            <a:pPr marL="168275" lvl="0" indent="-168275"/>
            <a:endParaRPr lang="en-US" sz="1100" dirty="0"/>
          </a:p>
          <a:p>
            <a:pPr marL="168275" lvl="0" indent="-168275"/>
            <a:endParaRPr lang="en-US" sz="1100" dirty="0"/>
          </a:p>
          <a:p>
            <a:pPr marL="168275" lvl="0" indent="-168275"/>
            <a:r>
              <a:rPr lang="en-US" sz="1100" dirty="0"/>
              <a:t>For </a:t>
            </a:r>
            <a:r>
              <a:rPr lang="en-US" sz="1100" dirty="0" err="1"/>
              <a:t>eg</a:t>
            </a:r>
            <a:r>
              <a:rPr lang="en-US" sz="1100" dirty="0"/>
              <a:t>, if CPU generates a 6-bit address </a:t>
            </a:r>
            <a:r>
              <a:rPr lang="en-US" sz="1100" dirty="0">
                <a:solidFill>
                  <a:srgbClr val="C00000"/>
                </a:solidFill>
              </a:rPr>
              <a:t>000101</a:t>
            </a:r>
            <a:r>
              <a:rPr lang="en-US" sz="1100" dirty="0"/>
              <a:t>, it is viewed as:</a:t>
            </a:r>
          </a:p>
          <a:p>
            <a:pPr marL="168275" lvl="0" indent="-168275">
              <a:buNone/>
            </a:pPr>
            <a:endParaRPr lang="en-US" sz="1100" dirty="0"/>
          </a:p>
          <a:p>
            <a:pPr marL="168275" lvl="0" indent="-168275">
              <a:buNone/>
            </a:pPr>
            <a:endParaRPr lang="en-US" sz="1100" dirty="0"/>
          </a:p>
          <a:p>
            <a:pPr marL="288925" lvl="1" indent="-120650"/>
            <a:r>
              <a:rPr lang="en-US" sz="1100" dirty="0"/>
              <a:t>This tells to look at cache line tagged as 0001 if it contains the word 01 of the block 0001 of the main memory.</a:t>
            </a:r>
          </a:p>
          <a:p>
            <a:pPr marL="288925" lvl="1" indent="-120650"/>
            <a:r>
              <a:rPr lang="en-US" sz="1100" dirty="0"/>
              <a:t>In this case, a 4-bit tags are required to identify those 16 blocks of main memory. The tag no represents the block no of the main memory.</a:t>
            </a:r>
          </a:p>
          <a:p>
            <a:pPr marL="168275" lvl="0" indent="-168275"/>
            <a:r>
              <a:rPr lang="en-US" sz="1100" dirty="0"/>
              <a:t>Here, we need to search for all the </a:t>
            </a:r>
            <a:r>
              <a:rPr lang="en-US" sz="1100" dirty="0">
                <a:solidFill>
                  <a:srgbClr val="C00000"/>
                </a:solidFill>
              </a:rPr>
              <a:t>16 tags from 0000 to 1111 </a:t>
            </a:r>
            <a:r>
              <a:rPr lang="en-US" sz="1100" dirty="0"/>
              <a:t>to determine whether a given block is in the cache or not. </a:t>
            </a:r>
          </a:p>
          <a:p>
            <a:pPr marL="168275" lvl="0" indent="-168275"/>
            <a:r>
              <a:rPr lang="en-US" sz="1100" dirty="0"/>
              <a:t>Therefore, the cost of implementation of hardware (</a:t>
            </a:r>
            <a:r>
              <a:rPr lang="en-US" sz="1100" dirty="0" err="1"/>
              <a:t>i.e</a:t>
            </a:r>
            <a:r>
              <a:rPr lang="en-US" sz="1100" dirty="0"/>
              <a:t> comparator) will be higher.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3A06A-4C52-4453-B325-13189F8AC678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COA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B8BC8D-BEDE-43D9-94C0-F0653435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20" y="1963907"/>
            <a:ext cx="2514600" cy="315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275C5E-F174-45AF-ABC1-2E39B483A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841" y="2615594"/>
            <a:ext cx="1824318" cy="396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C2438-109E-4B0F-9E6F-40945B99D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9187"/>
            <a:ext cx="3888441" cy="296908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D20B2D-FA1F-40F8-8C60-A47A58DCACC5}"/>
              </a:ext>
            </a:extLst>
          </p:cNvPr>
          <p:cNvSpPr txBox="1">
            <a:spLocks/>
          </p:cNvSpPr>
          <p:nvPr/>
        </p:nvSpPr>
        <p:spPr>
          <a:xfrm>
            <a:off x="5336240" y="742950"/>
            <a:ext cx="3350559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100" dirty="0"/>
              <a:t>The figure below represents the associative mapping:</a:t>
            </a:r>
          </a:p>
          <a:p>
            <a:pPr marL="0" indent="0">
              <a:buFont typeface="Arial" pitchFamily="34" charset="0"/>
              <a:buNone/>
            </a:pP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83713-41CE-438B-84F6-427C36D10761}"/>
              </a:ext>
            </a:extLst>
          </p:cNvPr>
          <p:cNvSpPr/>
          <p:nvPr/>
        </p:nvSpPr>
        <p:spPr>
          <a:xfrm>
            <a:off x="5183840" y="4442470"/>
            <a:ext cx="3429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Reference: </a:t>
            </a:r>
            <a:r>
              <a:rPr lang="en-US" sz="1100" dirty="0">
                <a:hlinkClick r:id="rId5"/>
              </a:rPr>
              <a:t>https://www.youtube.com/watch?v=uwnsMaH-iV0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93833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3. Set-associative Mapping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572000" cy="3851673"/>
          </a:xfrm>
        </p:spPr>
        <p:txBody>
          <a:bodyPr>
            <a:normAutofit fontScale="92500"/>
          </a:bodyPr>
          <a:lstStyle/>
          <a:p>
            <a:pPr marL="168275" lvl="0" indent="-168275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This is the </a:t>
            </a:r>
            <a:r>
              <a:rPr lang="en-US" sz="1100" dirty="0">
                <a:solidFill>
                  <a:srgbClr val="C00000"/>
                </a:solidFill>
              </a:rPr>
              <a:t>combination of the direct and associative technique</a:t>
            </a:r>
            <a:r>
              <a:rPr lang="en-US" sz="1100" dirty="0"/>
              <a:t>. Overcomes the limitation of contention and increased hardware cost.</a:t>
            </a:r>
          </a:p>
          <a:p>
            <a:pPr marL="168275" lvl="0" indent="-168275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In this case, </a:t>
            </a:r>
            <a:r>
              <a:rPr lang="en-US" sz="1100" dirty="0">
                <a:solidFill>
                  <a:srgbClr val="C00000"/>
                </a:solidFill>
              </a:rPr>
              <a:t>lines of the cache are grouped into sets </a:t>
            </a:r>
            <a:r>
              <a:rPr lang="en-US" sz="1100" dirty="0"/>
              <a:t>and the mapping allows to reside </a:t>
            </a:r>
            <a:r>
              <a:rPr lang="en-US" sz="1100" dirty="0">
                <a:solidFill>
                  <a:srgbClr val="C00000"/>
                </a:solidFill>
              </a:rPr>
              <a:t>in any block of a particular set.</a:t>
            </a:r>
          </a:p>
          <a:p>
            <a:pPr marL="168275" lvl="0" indent="-168275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It implements </a:t>
            </a:r>
            <a:r>
              <a:rPr lang="en-US" sz="1100" dirty="0">
                <a:solidFill>
                  <a:srgbClr val="C00000"/>
                </a:solidFill>
              </a:rPr>
              <a:t>many-to-many function</a:t>
            </a:r>
            <a:r>
              <a:rPr lang="en-US" sz="1100" dirty="0"/>
              <a:t>.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The cache set no can be calculated as: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dirty="0"/>
              <a:t>	</a:t>
            </a:r>
            <a:r>
              <a:rPr lang="en-US" sz="1100" dirty="0">
                <a:solidFill>
                  <a:srgbClr val="C00000"/>
                </a:solidFill>
              </a:rPr>
              <a:t>k = p MOD q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1143000" algn="l"/>
              </a:tabLst>
            </a:pPr>
            <a:r>
              <a:rPr lang="en-US" sz="1100" dirty="0"/>
              <a:t>	Where,  	k = set number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1143000" algn="l"/>
              </a:tabLst>
            </a:pPr>
            <a:r>
              <a:rPr lang="en-US" sz="1100" dirty="0"/>
              <a:t>		p = main memory block number;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1143000" algn="l"/>
              </a:tabLst>
            </a:pPr>
            <a:r>
              <a:rPr lang="en-US" sz="1100" dirty="0"/>
              <a:t>		q = number of sets in the cache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For e.g., if there are 16 blocks of main memory and 2 sets in cache, and if we need to identify which cache set maps the block no 14 of the main memory.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Here, k = 14 MOD 2 =0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So, the block no 14 of the main memory is mapped by cache set no 0.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Hence, Block 0,2,4,6,8,10,12,14  is mapped to set no 0.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dirty="0"/>
              <a:t>Other block are mapped to set 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D9DC6-01EC-47CF-A985-07B5B11EC674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B01FDA-A817-4431-A618-38342FB591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6"/>
          <a:stretch/>
        </p:blipFill>
        <p:spPr>
          <a:xfrm>
            <a:off x="4876800" y="820340"/>
            <a:ext cx="4209020" cy="31442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2FCF92-1DB5-48E1-8BE0-36501DAE5BA2}"/>
              </a:ext>
            </a:extLst>
          </p:cNvPr>
          <p:cNvSpPr/>
          <p:nvPr/>
        </p:nvSpPr>
        <p:spPr>
          <a:xfrm>
            <a:off x="5562600" y="4077384"/>
            <a:ext cx="314024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Reference: </a:t>
            </a:r>
            <a:r>
              <a:rPr lang="en-US" sz="1050" dirty="0">
                <a:hlinkClick r:id="rId3"/>
              </a:rPr>
              <a:t>https://www.youtube.com/watch?v=KhAh6thw_TI</a:t>
            </a:r>
            <a:endParaRPr lang="en-US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88409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02547" cy="3851673"/>
          </a:xfrm>
        </p:spPr>
        <p:txBody>
          <a:bodyPr>
            <a:normAutofit lnSpcReduction="10000"/>
          </a:bodyPr>
          <a:lstStyle/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Each physical address generated by the CPU is viewed as three fields:</a:t>
            </a:r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endParaRPr lang="en-US" sz="1200" dirty="0"/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endParaRPr lang="en-US" sz="1200" dirty="0"/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For e.g., if CPU generates a 6-bit address 000101, it is viewed as:</a:t>
            </a:r>
            <a:endParaRPr lang="en-US" sz="1400" dirty="0">
              <a:solidFill>
                <a:srgbClr val="00B050"/>
              </a:solidFill>
            </a:endParaRPr>
          </a:p>
          <a:p>
            <a:pPr marL="168275" indent="-168275">
              <a:spcBef>
                <a:spcPts val="0"/>
              </a:spcBef>
              <a:spcAft>
                <a:spcPts val="600"/>
              </a:spcAft>
              <a:buNone/>
            </a:pPr>
            <a:endParaRPr lang="en-US" sz="1200" dirty="0"/>
          </a:p>
          <a:p>
            <a:pPr marL="168275" indent="-168275">
              <a:spcBef>
                <a:spcPts val="0"/>
              </a:spcBef>
              <a:spcAft>
                <a:spcPts val="600"/>
              </a:spcAft>
              <a:buNone/>
            </a:pPr>
            <a:endParaRPr lang="en-US" sz="1200" dirty="0"/>
          </a:p>
          <a:p>
            <a:pPr marL="168275" indent="-168275">
              <a:spcBef>
                <a:spcPts val="0"/>
              </a:spcBef>
              <a:spcAft>
                <a:spcPts val="600"/>
              </a:spcAft>
              <a:buNone/>
            </a:pPr>
            <a:endParaRPr lang="en-US" sz="1200" dirty="0"/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This tells to look at cache line </a:t>
            </a:r>
            <a:r>
              <a:rPr lang="en-US" sz="1200" b="1" dirty="0"/>
              <a:t>tagged as 000 </a:t>
            </a:r>
            <a:r>
              <a:rPr lang="en-US" sz="1200" dirty="0"/>
              <a:t>and </a:t>
            </a:r>
            <a:r>
              <a:rPr lang="en-US" sz="1200" b="1" dirty="0"/>
              <a:t>set 1 </a:t>
            </a:r>
            <a:r>
              <a:rPr lang="en-US" sz="1200" dirty="0"/>
              <a:t>if it contains the </a:t>
            </a:r>
            <a:r>
              <a:rPr lang="en-US" sz="1200" b="1" dirty="0"/>
              <a:t>word 01 </a:t>
            </a:r>
            <a:r>
              <a:rPr lang="en-US" sz="1200" dirty="0"/>
              <a:t>of the </a:t>
            </a:r>
            <a:r>
              <a:rPr lang="en-US" sz="1200" b="1" dirty="0"/>
              <a:t>block 0000 </a:t>
            </a:r>
            <a:r>
              <a:rPr lang="en-US" sz="1200" dirty="0"/>
              <a:t>of the main memory.</a:t>
            </a:r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First, it compares set no 1 if it is present in SET 0 (</a:t>
            </a:r>
            <a:r>
              <a:rPr lang="en-US" sz="1200" dirty="0" err="1"/>
              <a:t>i.e</a:t>
            </a:r>
            <a:r>
              <a:rPr lang="en-US" sz="1200" dirty="0"/>
              <a:t> from 00 and 01), and then looks for tag no 000 and finally looks for the index 2 of the cache line 1.</a:t>
            </a:r>
          </a:p>
          <a:p>
            <a:pPr marL="168275" lvl="0" indent="-168275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In this case, a 3-bit tags are required to identify those 8 blocks of main memory. The tag no represents the block no of the main memory.</a:t>
            </a:r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endParaRPr lang="en-US" sz="1200" dirty="0"/>
          </a:p>
          <a:p>
            <a:pPr marL="168275" indent="-168275">
              <a:spcBef>
                <a:spcPts val="0"/>
              </a:spcBef>
              <a:spcAft>
                <a:spcPts val="600"/>
              </a:spcAft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D9DC6-01EC-47CF-A985-07B5B11EC674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78B4F6-CD07-4F0F-9804-6F21A4E9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48" y="1173689"/>
            <a:ext cx="2597752" cy="339136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C9DC1072-FFBF-4F1D-8EC1-4120BA231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64851"/>
              </p:ext>
            </p:extLst>
          </p:nvPr>
        </p:nvGraphicFramePr>
        <p:xfrm>
          <a:off x="1143000" y="2027993"/>
          <a:ext cx="22098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52697274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43505762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174238308"/>
                    </a:ext>
                  </a:extLst>
                </a:gridCol>
              </a:tblGrid>
              <a:tr h="21388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Tag 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Set 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Word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400788"/>
                  </a:ext>
                </a:extLst>
              </a:tr>
              <a:tr h="21388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69062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3033957-091B-4767-81FE-AAFEFC5A58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46"/>
          <a:stretch/>
        </p:blipFill>
        <p:spPr>
          <a:xfrm>
            <a:off x="4259747" y="839390"/>
            <a:ext cx="4884253" cy="32563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48971-F443-4AA0-AD24-93583F46D203}"/>
              </a:ext>
            </a:extLst>
          </p:cNvPr>
          <p:cNvSpPr/>
          <p:nvPr/>
        </p:nvSpPr>
        <p:spPr>
          <a:xfrm>
            <a:off x="5566611" y="4268390"/>
            <a:ext cx="314024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Reference: </a:t>
            </a:r>
            <a:r>
              <a:rPr lang="en-US" sz="1050" dirty="0">
                <a:hlinkClick r:id="rId4"/>
              </a:rPr>
              <a:t>https://www.youtube.com/watch?v=KhAh6thw_TI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EDDDC2-2DAB-448E-9E44-A1A2D5305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3. Set-associative Mapping </a:t>
            </a:r>
            <a:r>
              <a:rPr lang="en-US" sz="2400" b="1" dirty="0">
                <a:solidFill>
                  <a:srgbClr val="00B050"/>
                </a:solidFill>
              </a:rPr>
              <a:t>(Contd.)</a:t>
            </a:r>
          </a:p>
        </p:txBody>
      </p:sp>
    </p:spTree>
    <p:extLst>
      <p:ext uri="{BB962C8B-B14F-4D97-AF65-F5344CB8AC3E}">
        <p14:creationId xmlns:p14="http://schemas.microsoft.com/office/powerpoint/2010/main" val="2352131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A20C-4FA2-4A0C-9BBD-6126078DB940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2B669A-EF0B-498C-9519-9D63E00F6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071" b="10706"/>
          <a:stretch/>
        </p:blipFill>
        <p:spPr>
          <a:xfrm>
            <a:off x="1067803" y="361949"/>
            <a:ext cx="2208798" cy="3810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E18C9D-741E-4E88-96A4-EC1C6F5C4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234" r="2" b="10706"/>
          <a:stretch/>
        </p:blipFill>
        <p:spPr>
          <a:xfrm>
            <a:off x="5029200" y="514349"/>
            <a:ext cx="2514599" cy="381000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28C0FB-2549-420A-AEC5-1BF620F7710C}"/>
              </a:ext>
            </a:extLst>
          </p:cNvPr>
          <p:cNvCxnSpPr/>
          <p:nvPr/>
        </p:nvCxnSpPr>
        <p:spPr>
          <a:xfrm flipH="1" flipV="1">
            <a:off x="3276601" y="514349"/>
            <a:ext cx="1752599" cy="15240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252456-E9E1-4A4A-B4AA-7C6F067AA008}"/>
              </a:ext>
            </a:extLst>
          </p:cNvPr>
          <p:cNvCxnSpPr>
            <a:cxnSpLocks/>
          </p:cNvCxnSpPr>
          <p:nvPr/>
        </p:nvCxnSpPr>
        <p:spPr>
          <a:xfrm flipH="1">
            <a:off x="3276601" y="971550"/>
            <a:ext cx="1752599" cy="30480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829E61-A325-40E6-92F6-841D94118F3A}"/>
              </a:ext>
            </a:extLst>
          </p:cNvPr>
          <p:cNvCxnSpPr>
            <a:cxnSpLocks/>
          </p:cNvCxnSpPr>
          <p:nvPr/>
        </p:nvCxnSpPr>
        <p:spPr>
          <a:xfrm flipH="1" flipV="1">
            <a:off x="3276601" y="651272"/>
            <a:ext cx="1752600" cy="472679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2E60D6-6504-4E6E-9EA6-7BBB08657779}"/>
              </a:ext>
            </a:extLst>
          </p:cNvPr>
          <p:cNvCxnSpPr>
            <a:cxnSpLocks/>
          </p:cNvCxnSpPr>
          <p:nvPr/>
        </p:nvCxnSpPr>
        <p:spPr>
          <a:xfrm flipH="1">
            <a:off x="3276601" y="1276350"/>
            <a:ext cx="1676399" cy="121444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F1579D-2A9E-4287-8000-7CFC6BA8454D}"/>
              </a:ext>
            </a:extLst>
          </p:cNvPr>
          <p:cNvCxnSpPr>
            <a:cxnSpLocks/>
          </p:cNvCxnSpPr>
          <p:nvPr/>
        </p:nvCxnSpPr>
        <p:spPr>
          <a:xfrm flipH="1" flipV="1">
            <a:off x="3238500" y="771177"/>
            <a:ext cx="1714500" cy="779016"/>
          </a:xfrm>
          <a:prstGeom prst="straightConnector1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C76CA5-8842-442E-9A80-E25421FC403B}"/>
              </a:ext>
            </a:extLst>
          </p:cNvPr>
          <p:cNvCxnSpPr>
            <a:cxnSpLocks/>
          </p:cNvCxnSpPr>
          <p:nvPr/>
        </p:nvCxnSpPr>
        <p:spPr>
          <a:xfrm flipH="1" flipV="1">
            <a:off x="3352802" y="1533179"/>
            <a:ext cx="1600198" cy="217387"/>
          </a:xfrm>
          <a:prstGeom prst="straightConnector1">
            <a:avLst/>
          </a:prstGeom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C6C3F4-3FA5-41E7-B889-C0D76CF00155}"/>
              </a:ext>
            </a:extLst>
          </p:cNvPr>
          <p:cNvCxnSpPr>
            <a:cxnSpLocks/>
          </p:cNvCxnSpPr>
          <p:nvPr/>
        </p:nvCxnSpPr>
        <p:spPr>
          <a:xfrm flipH="1" flipV="1">
            <a:off x="3352802" y="946201"/>
            <a:ext cx="1676397" cy="1010245"/>
          </a:xfrm>
          <a:prstGeom prst="straightConnector1">
            <a:avLst/>
          </a:prstGeom>
          <a:ln w="9525" cap="flat" cmpd="sng" algn="ctr">
            <a:solidFill>
              <a:schemeClr val="tx2">
                <a:lumMod val="7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567CBD-A92C-403F-8F14-F5EAF9FA76BD}"/>
              </a:ext>
            </a:extLst>
          </p:cNvPr>
          <p:cNvCxnSpPr>
            <a:cxnSpLocks/>
          </p:cNvCxnSpPr>
          <p:nvPr/>
        </p:nvCxnSpPr>
        <p:spPr>
          <a:xfrm flipH="1" flipV="1">
            <a:off x="3352802" y="1588245"/>
            <a:ext cx="1600198" cy="563660"/>
          </a:xfrm>
          <a:prstGeom prst="straightConnector1">
            <a:avLst/>
          </a:prstGeom>
          <a:ln w="9525" cap="flat" cmpd="sng" algn="ctr">
            <a:solidFill>
              <a:schemeClr val="tx2">
                <a:lumMod val="7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5FAAA82-F67D-4FD0-9C6F-D0B30F8D5793}"/>
              </a:ext>
            </a:extLst>
          </p:cNvPr>
          <p:cNvSpPr/>
          <p:nvPr/>
        </p:nvSpPr>
        <p:spPr>
          <a:xfrm>
            <a:off x="1600200" y="1160685"/>
            <a:ext cx="1676397" cy="832421"/>
          </a:xfrm>
          <a:prstGeom prst="rect">
            <a:avLst/>
          </a:prstGeom>
          <a:solidFill>
            <a:schemeClr val="accent6">
              <a:lumMod val="40000"/>
              <a:lumOff val="60000"/>
              <a:alpha val="59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B8E93-801F-48E4-BB5C-0781749D7BC2}"/>
              </a:ext>
            </a:extLst>
          </p:cNvPr>
          <p:cNvSpPr/>
          <p:nvPr/>
        </p:nvSpPr>
        <p:spPr>
          <a:xfrm>
            <a:off x="1607821" y="316914"/>
            <a:ext cx="1676397" cy="832421"/>
          </a:xfrm>
          <a:prstGeom prst="rect">
            <a:avLst/>
          </a:prstGeom>
          <a:solidFill>
            <a:srgbClr val="FFFF00">
              <a:alpha val="30000"/>
            </a:srgbClr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5265ECD-13B8-477D-B960-87019F141D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75" t="90507" r="-643" b="363"/>
          <a:stretch/>
        </p:blipFill>
        <p:spPr>
          <a:xfrm>
            <a:off x="1595120" y="4361010"/>
            <a:ext cx="5638799" cy="38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36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7.4 Cache Replacement Policy: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The cache replacement policy is the technique for choosing which cache block to replace when Full Associative cache is full, or when a Set-associative cache’s line is full. </a:t>
            </a:r>
          </a:p>
          <a:p>
            <a:r>
              <a:rPr lang="en-US" sz="2400" dirty="0"/>
              <a:t>It is to be noted that there is no choice in a direct-mapped cache; a main memory address always maps to the same cache address and thus replaces whatever block is already there.</a:t>
            </a:r>
          </a:p>
          <a:p>
            <a:r>
              <a:rPr lang="en-US" sz="2400" dirty="0"/>
              <a:t>There are three common replacement policies:</a:t>
            </a:r>
          </a:p>
          <a:p>
            <a:pPr lvl="1"/>
            <a:r>
              <a:rPr lang="en-US" sz="2000" dirty="0"/>
              <a:t>Random</a:t>
            </a:r>
          </a:p>
          <a:p>
            <a:pPr lvl="1"/>
            <a:r>
              <a:rPr lang="en-US" sz="2000" dirty="0"/>
              <a:t>Least Recently Used</a:t>
            </a:r>
          </a:p>
          <a:p>
            <a:pPr lvl="1"/>
            <a:r>
              <a:rPr lang="en-US" sz="2000" dirty="0"/>
              <a:t>First In First Out</a:t>
            </a:r>
          </a:p>
          <a:p>
            <a:pPr marL="0" indent="0">
              <a:buNone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AC7C-2037-4065-BFAC-53CEA0858DA3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</p:spTree>
    <p:extLst>
      <p:ext uri="{BB962C8B-B14F-4D97-AF65-F5344CB8AC3E}">
        <p14:creationId xmlns:p14="http://schemas.microsoft.com/office/powerpoint/2010/main" val="2374441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D917-70D5-4BDA-BEAC-EB7435C5357B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EC9F3-47BA-4699-9CB9-283E20404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9202"/>
            <a:ext cx="8064512" cy="447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97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/>
              <a:t>Cache Writing technique/policy: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Cache is a technique of storing a copy of data temporarily in rapidly accessible storage memory. </a:t>
            </a:r>
          </a:p>
          <a:p>
            <a:r>
              <a:rPr lang="en-US" sz="2400" dirty="0"/>
              <a:t>Cache </a:t>
            </a:r>
            <a:r>
              <a:rPr lang="en-US" sz="2400" dirty="0">
                <a:solidFill>
                  <a:srgbClr val="C00000"/>
                </a:solidFill>
              </a:rPr>
              <a:t>stores most recently used words </a:t>
            </a:r>
            <a:r>
              <a:rPr lang="en-US" sz="2400" dirty="0"/>
              <a:t>in small memory to increase the speed at which data is accessed. </a:t>
            </a:r>
          </a:p>
          <a:p>
            <a:r>
              <a:rPr lang="en-US" sz="2400" dirty="0"/>
              <a:t>It acts as a buffer between RAM and CPU and thus increases the speed at which data is available to the processor. </a:t>
            </a:r>
          </a:p>
          <a:p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C597-DADD-432F-AE10-F3D5F37D61B5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</p:spTree>
    <p:extLst>
      <p:ext uri="{BB962C8B-B14F-4D97-AF65-F5344CB8AC3E}">
        <p14:creationId xmlns:p14="http://schemas.microsoft.com/office/powerpoint/2010/main" val="3514420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600" b="1" dirty="0">
                <a:solidFill>
                  <a:srgbClr val="FF0000"/>
                </a:solidFill>
              </a:rPr>
              <a:t>a) Write 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657600" cy="3851673"/>
          </a:xfrm>
        </p:spPr>
        <p:txBody>
          <a:bodyPr>
            <a:normAutofit/>
          </a:bodyPr>
          <a:lstStyle/>
          <a:p>
            <a:r>
              <a:rPr lang="en-US" sz="1600" dirty="0"/>
              <a:t>In write-through, </a:t>
            </a:r>
            <a:r>
              <a:rPr lang="en-US" sz="1600" dirty="0">
                <a:solidFill>
                  <a:srgbClr val="C00000"/>
                </a:solidFill>
              </a:rPr>
              <a:t>data is simultaneously updated to cache and memory</a:t>
            </a:r>
            <a:r>
              <a:rPr lang="en-US" sz="1600" dirty="0"/>
              <a:t>. </a:t>
            </a:r>
          </a:p>
          <a:p>
            <a:r>
              <a:rPr lang="en-US" sz="1600" dirty="0"/>
              <a:t>This process is simpler and more reliable, keeps the cache and memory consistent.</a:t>
            </a:r>
          </a:p>
          <a:p>
            <a:r>
              <a:rPr lang="en-US" sz="1600" dirty="0"/>
              <a:t>This is used when there are no frequent writes to the cache (The number of write operations is less).</a:t>
            </a:r>
          </a:p>
          <a:p>
            <a:r>
              <a:rPr lang="en-US" sz="1600" dirty="0"/>
              <a:t>A Write-through cache </a:t>
            </a:r>
            <a:r>
              <a:rPr lang="en-US" sz="1600" dirty="0" err="1"/>
              <a:t>colves</a:t>
            </a:r>
            <a:r>
              <a:rPr lang="en-US" sz="1600" dirty="0"/>
              <a:t> the inconsistency problem by forcing all writes to update both the cache and the main memory.</a:t>
            </a:r>
          </a:p>
          <a:p>
            <a:r>
              <a:rPr lang="en-US" sz="1600" dirty="0"/>
              <a:t>Main issues: </a:t>
            </a:r>
            <a:r>
              <a:rPr lang="en-US" sz="1600" dirty="0" err="1"/>
              <a:t>Badwidth</a:t>
            </a:r>
            <a:r>
              <a:rPr lang="en-US" sz="16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A88-555B-407B-8731-F56AE2912511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pic>
        <p:nvPicPr>
          <p:cNvPr id="7" name="Picture 6" descr="https://media.geeksforgeeks.org/wp-content/uploads/20200122184347/1406-2.png">
            <a:extLst>
              <a:ext uri="{FF2B5EF4-FFF2-40B4-BE49-F238E27FC236}">
                <a16:creationId xmlns:a16="http://schemas.microsoft.com/office/drawing/2014/main" id="{0C3E260C-7144-4A5C-95F0-5AAF4C26DC0F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357" y="839390"/>
            <a:ext cx="459168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CB0675-067C-4EF4-A721-B3E6618ADD1A}"/>
              </a:ext>
            </a:extLst>
          </p:cNvPr>
          <p:cNvSpPr/>
          <p:nvPr/>
        </p:nvSpPr>
        <p:spPr>
          <a:xfrm>
            <a:off x="5486400" y="1352550"/>
            <a:ext cx="3048000" cy="304800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B5A93F-272A-4471-B9E7-E59300A95689}"/>
              </a:ext>
            </a:extLst>
          </p:cNvPr>
          <p:cNvSpPr/>
          <p:nvPr/>
        </p:nvSpPr>
        <p:spPr>
          <a:xfrm>
            <a:off x="5410200" y="3181351"/>
            <a:ext cx="3048000" cy="304800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C9AA8C-5DA0-491B-B78A-844CEA693F86}"/>
              </a:ext>
            </a:extLst>
          </p:cNvPr>
          <p:cNvSpPr/>
          <p:nvPr/>
        </p:nvSpPr>
        <p:spPr>
          <a:xfrm>
            <a:off x="4277042" y="422087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Reference: </a:t>
            </a:r>
            <a:r>
              <a:rPr lang="en-US" sz="1600" dirty="0">
                <a:hlinkClick r:id="rId4"/>
              </a:rPr>
              <a:t>https://www.youtube.com/watch?v=uM8K0Z5usu8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1430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600" b="1" dirty="0">
                <a:solidFill>
                  <a:srgbClr val="FF0000"/>
                </a:solidFill>
              </a:rPr>
              <a:t>b) Write Back: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429000" cy="3851673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In this policy, the memory is not updated until the cache block needs to be replaced.</a:t>
            </a:r>
          </a:p>
          <a:p>
            <a:r>
              <a:rPr lang="en-US" sz="2000" dirty="0"/>
              <a:t>The data is </a:t>
            </a:r>
            <a:r>
              <a:rPr lang="en-US" sz="2000" dirty="0">
                <a:solidFill>
                  <a:srgbClr val="C00000"/>
                </a:solidFill>
              </a:rPr>
              <a:t>updated only in the cache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C00000"/>
                </a:solidFill>
              </a:rPr>
              <a:t>updated into the memory at a later time. </a:t>
            </a:r>
          </a:p>
          <a:p>
            <a:r>
              <a:rPr lang="en-US" sz="2000" dirty="0"/>
              <a:t>Data is </a:t>
            </a:r>
            <a:r>
              <a:rPr lang="en-US" sz="2000" dirty="0">
                <a:solidFill>
                  <a:srgbClr val="C00000"/>
                </a:solidFill>
              </a:rPr>
              <a:t>updated in the memory </a:t>
            </a:r>
            <a:r>
              <a:rPr lang="en-US" sz="2000" dirty="0"/>
              <a:t>only </a:t>
            </a:r>
            <a:r>
              <a:rPr lang="en-US" sz="2000" dirty="0">
                <a:solidFill>
                  <a:srgbClr val="C00000"/>
                </a:solidFill>
              </a:rPr>
              <a:t>when the cache line is ready to be replaced .</a:t>
            </a:r>
          </a:p>
          <a:p>
            <a:r>
              <a:rPr lang="en-US" sz="2400" dirty="0"/>
              <a:t>The modified cache content will be first be written to the main memory.</a:t>
            </a:r>
          </a:p>
          <a:p>
            <a:r>
              <a:rPr lang="en-US" sz="2400" dirty="0"/>
              <a:t>Only then can the cache lie be replaced with new data.</a:t>
            </a: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7D08-340B-4203-B79E-90E372F4DAB7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  <p:pic>
        <p:nvPicPr>
          <p:cNvPr id="7" name="Picture 6" descr="https://media.geeksforgeeks.org/wp-content/uploads/20200122163548/223-1.png">
            <a:extLst>
              <a:ext uri="{FF2B5EF4-FFF2-40B4-BE49-F238E27FC236}">
                <a16:creationId xmlns:a16="http://schemas.microsoft.com/office/drawing/2014/main" id="{FDCE5074-24CE-4F54-B55B-D0F27ED75A6C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505" y="160421"/>
            <a:ext cx="4836695" cy="460684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B6838C-6051-4284-B4AA-6F34BF274483}"/>
              </a:ext>
            </a:extLst>
          </p:cNvPr>
          <p:cNvSpPr/>
          <p:nvPr/>
        </p:nvSpPr>
        <p:spPr>
          <a:xfrm>
            <a:off x="5181600" y="839390"/>
            <a:ext cx="3048000" cy="304800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8C5A81-0F49-46AA-A518-017B3C1FBD77}"/>
              </a:ext>
            </a:extLst>
          </p:cNvPr>
          <p:cNvSpPr/>
          <p:nvPr/>
        </p:nvSpPr>
        <p:spPr>
          <a:xfrm>
            <a:off x="5181601" y="2419350"/>
            <a:ext cx="914400" cy="304800"/>
          </a:xfrm>
          <a:prstGeom prst="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92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Exam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cache performance? Describe in brief the strategies used to write data to the cache memory. [PU 2017 Fall]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memory hierarchy? Differentiate between different types of cache mapping. [PU 2017 Spring]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Memory hierarchy? Describe the significance of </a:t>
            </a:r>
            <a:r>
              <a:rPr lang="en-US" sz="2400"/>
              <a:t>Cache [</a:t>
            </a:r>
            <a:r>
              <a:rPr lang="en-US" sz="2400" dirty="0"/>
              <a:t>PU 2018 Fall]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cache memory? Briefly explain Direct and Set-associative mapping. [PU 2019 Spring]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cache memory? Explain associative, set associative and direct mapping in cache. [PU 2020 Spring]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972-B293-4130-AF49-4E375335606A}" type="datetime1">
              <a:rPr lang="en-US" smtClean="0">
                <a:solidFill>
                  <a:srgbClr val="00B050"/>
                </a:solidFill>
              </a:rPr>
              <a:t>7/3/2023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Memory Organization, MPCA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005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End </a:t>
            </a:r>
            <a:r>
              <a:rPr lang="en-US" sz="3600" b="1">
                <a:solidFill>
                  <a:srgbClr val="00B050"/>
                </a:solidFill>
              </a:rPr>
              <a:t>of Chapter 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3658-5BDF-47F2-AD85-5B1CDEA5192C}" type="datetime1">
              <a:rPr lang="en-US" smtClean="0"/>
              <a:t>7/3/2023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 Organization, COA</a:t>
            </a:r>
          </a:p>
        </p:txBody>
      </p:sp>
    </p:spTree>
    <p:extLst>
      <p:ext uri="{BB962C8B-B14F-4D97-AF65-F5344CB8AC3E}">
        <p14:creationId xmlns:p14="http://schemas.microsoft.com/office/powerpoint/2010/main" val="39421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2925</TotalTime>
  <Words>2372</Words>
  <Application>Microsoft Office PowerPoint</Application>
  <PresentationFormat>On-screen Show (16:9)</PresentationFormat>
  <Paragraphs>339</Paragraphs>
  <Slides>32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Office Theme</vt:lpstr>
      <vt:lpstr>Chapter 7 MEMORY ORGANIZATION</vt:lpstr>
      <vt:lpstr>Contents:</vt:lpstr>
      <vt:lpstr>7.1 Memory</vt:lpstr>
      <vt:lpstr>PowerPoint Presentation</vt:lpstr>
      <vt:lpstr>7.2 Memory Hierarchy</vt:lpstr>
      <vt:lpstr>PowerPoint Presentation</vt:lpstr>
      <vt:lpstr>PowerPoint Presentation</vt:lpstr>
      <vt:lpstr>7.2 Associative Memory</vt:lpstr>
      <vt:lpstr>Block diagram of CAM</vt:lpstr>
      <vt:lpstr>Working of CAM</vt:lpstr>
      <vt:lpstr>PowerPoint Presentation</vt:lpstr>
      <vt:lpstr>PowerPoint Presentation</vt:lpstr>
      <vt:lpstr>PowerPoint Presentation</vt:lpstr>
      <vt:lpstr>7.3 Cache</vt:lpstr>
      <vt:lpstr>PowerPoint Presentation</vt:lpstr>
      <vt:lpstr>Structure of Cache and Main memory:</vt:lpstr>
      <vt:lpstr>Example:</vt:lpstr>
      <vt:lpstr>PowerPoint Presentation</vt:lpstr>
      <vt:lpstr>7.3 Cache Mapping Techniques:</vt:lpstr>
      <vt:lpstr>1. Direct Mapping</vt:lpstr>
      <vt:lpstr>1. Direct Mapping (Contd.)</vt:lpstr>
      <vt:lpstr>2. Associative Mapping</vt:lpstr>
      <vt:lpstr>3. Set-associative Mapping</vt:lpstr>
      <vt:lpstr>3. Set-associative Mapping (Contd.)</vt:lpstr>
      <vt:lpstr>PowerPoint Presentation</vt:lpstr>
      <vt:lpstr>7.4 Cache Replacement Policy:</vt:lpstr>
      <vt:lpstr>PowerPoint Presentation</vt:lpstr>
      <vt:lpstr>Cache Writing technique/policy:</vt:lpstr>
      <vt:lpstr>a) Write Through</vt:lpstr>
      <vt:lpstr>b) Write Back:</vt:lpstr>
      <vt:lpstr>Exam Questions: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282</cp:revision>
  <dcterms:created xsi:type="dcterms:W3CDTF">2006-08-16T00:00:00Z</dcterms:created>
  <dcterms:modified xsi:type="dcterms:W3CDTF">2023-07-03T14:50:14Z</dcterms:modified>
</cp:coreProperties>
</file>