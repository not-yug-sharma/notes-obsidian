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305" r:id="rId4"/>
    <p:sldId id="369" r:id="rId5"/>
    <p:sldId id="351" r:id="rId6"/>
    <p:sldId id="370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78" r:id="rId18"/>
    <p:sldId id="379" r:id="rId19"/>
    <p:sldId id="362" r:id="rId20"/>
    <p:sldId id="363" r:id="rId21"/>
    <p:sldId id="364" r:id="rId22"/>
    <p:sldId id="372" r:id="rId23"/>
    <p:sldId id="371" r:id="rId24"/>
    <p:sldId id="373" r:id="rId25"/>
    <p:sldId id="366" r:id="rId26"/>
    <p:sldId id="374" r:id="rId27"/>
    <p:sldId id="384" r:id="rId28"/>
    <p:sldId id="385" r:id="rId29"/>
    <p:sldId id="388" r:id="rId30"/>
    <p:sldId id="389" r:id="rId31"/>
    <p:sldId id="387" r:id="rId32"/>
    <p:sldId id="390" r:id="rId33"/>
    <p:sldId id="386" r:id="rId34"/>
    <p:sldId id="367" r:id="rId35"/>
    <p:sldId id="368" r:id="rId36"/>
    <p:sldId id="375" r:id="rId37"/>
    <p:sldId id="376" r:id="rId38"/>
    <p:sldId id="383" r:id="rId39"/>
    <p:sldId id="377" r:id="rId40"/>
    <p:sldId id="380" r:id="rId41"/>
    <p:sldId id="381" r:id="rId42"/>
    <p:sldId id="382" r:id="rId43"/>
    <p:sldId id="392" r:id="rId44"/>
    <p:sldId id="403" r:id="rId45"/>
    <p:sldId id="399" r:id="rId46"/>
    <p:sldId id="404" r:id="rId47"/>
    <p:sldId id="400" r:id="rId48"/>
    <p:sldId id="395" r:id="rId49"/>
    <p:sldId id="402" r:id="rId50"/>
    <p:sldId id="350" r:id="rId51"/>
    <p:sldId id="394" r:id="rId52"/>
    <p:sldId id="401" r:id="rId53"/>
    <p:sldId id="397" r:id="rId54"/>
    <p:sldId id="396" r:id="rId55"/>
    <p:sldId id="393" r:id="rId5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38" autoAdjust="0"/>
  </p:normalViewPr>
  <p:slideViewPr>
    <p:cSldViewPr>
      <p:cViewPr varScale="1">
        <p:scale>
          <a:sx n="60" d="100"/>
          <a:sy n="60" d="100"/>
        </p:scale>
        <p:origin x="58" y="6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32525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98897-BDF1-4279-BA28-06DD7EC1DE0C}" type="datetimeFigureOut">
              <a:rPr lang="en-US" smtClean="0"/>
              <a:pPr/>
              <a:t>6/5/2023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78CF50-4ED8-4D7B-8802-3C44BEF0A8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78CF50-4ED8-4D7B-8802-3C44BEF0A8F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33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3ECCA-66F8-4984-ABAB-77E92A5AF147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9C9C-0746-4D89-A672-0EDAE09502B8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843B5-4BB7-4FC6-A7B5-99E9E7D55FF7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4D70E-C44E-4678-A416-513EA9657D6C}" type="datetime1">
              <a:rPr lang="en-US" smtClean="0"/>
              <a:t>6/5/2023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5B8EE-B95D-4F2B-80DD-18201C08A038}" type="datetime1">
              <a:rPr lang="en-US" smtClean="0"/>
              <a:t>6/5/2023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6FD9E-B03D-44E2-A9FA-FB52A95B5EBA}" type="datetime1">
              <a:rPr lang="en-US" smtClean="0"/>
              <a:t>6/5/2023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4A78A-CF66-4F77-A0FF-D4F52F658DA3}" type="datetime1">
              <a:rPr lang="en-US" smtClean="0"/>
              <a:t>6/5/2023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3D6C9-AA7F-42F7-AC6F-00820C61A8EF}" type="datetime1">
              <a:rPr lang="en-US" smtClean="0"/>
              <a:t>6/5/2023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E748F-782A-4D57-99AF-5296C6151527}" type="datetime1">
              <a:rPr lang="en-US" smtClean="0"/>
              <a:t>6/5/2023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FC28-847E-4A6C-9E3B-49181D9A30B6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8289-7495-4EC3-8D9D-A043DE13BC1B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2E6CA-EA90-426F-AEFD-B42182C4B38C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Computer Organization, COA_BESE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aler.com/topics/what-is-rom/" TargetMode="External"/><Relationship Id="rId2" Type="http://schemas.openxmlformats.org/officeDocument/2006/relationships/hyperlink" Target="https://www.guru99.com/different-types-ram-random-access-memory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/>
              <a:t>Chapter 2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Computer Organization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Contents: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Basic Computer Organization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System Buses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Instruction Cycles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CPU organization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Memory sub-system, organization and interfacing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IO sub-system organization and interfacing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E734-BD91-4A9C-AC0C-1A9493A31815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1. Basic Computer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038600" cy="3851673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2400" dirty="0"/>
              <a:t>This organization has three main components: </a:t>
            </a:r>
          </a:p>
          <a:p>
            <a:pPr lvl="1"/>
            <a:r>
              <a:rPr lang="en-US" sz="1800" dirty="0"/>
              <a:t>CPU, </a:t>
            </a:r>
          </a:p>
          <a:p>
            <a:pPr lvl="1"/>
            <a:r>
              <a:rPr lang="en-US" sz="1800" dirty="0"/>
              <a:t>memory subsystem, and </a:t>
            </a:r>
          </a:p>
          <a:p>
            <a:pPr lvl="1"/>
            <a:r>
              <a:rPr lang="en-US" sz="1800" dirty="0"/>
              <a:t>IO subsystem</a:t>
            </a:r>
            <a:endParaRPr lang="en-US" sz="105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82BF-27FA-45BD-AD42-BF082D121388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D74312-6C1A-4CE3-81BE-A91EFEEFFC9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419600" y="839390"/>
            <a:ext cx="4267200" cy="27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836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Structural view of Computer System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6FBF6587-8C17-4719-9CB6-A9E2DEC754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4800" y="806892"/>
          <a:ext cx="4876800" cy="38222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8134">
                  <a:extLst>
                    <a:ext uri="{9D8B030D-6E8A-4147-A177-3AD203B41FA5}">
                      <a16:colId xmlns:a16="http://schemas.microsoft.com/office/drawing/2014/main" val="2527577427"/>
                    </a:ext>
                  </a:extLst>
                </a:gridCol>
                <a:gridCol w="3928666">
                  <a:extLst>
                    <a:ext uri="{9D8B030D-6E8A-4147-A177-3AD203B41FA5}">
                      <a16:colId xmlns:a16="http://schemas.microsoft.com/office/drawing/2014/main" val="1800798102"/>
                    </a:ext>
                  </a:extLst>
                </a:gridCol>
              </a:tblGrid>
              <a:tr h="127408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CPU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1260" marR="6126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Controls the operation of the computer and performs its data processing functions; also referred as processor.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1260" marR="6126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072327"/>
                  </a:ext>
                </a:extLst>
              </a:tr>
              <a:tr h="637042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Main Memory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1260" marR="6126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Stores data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1260" marR="6126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805164"/>
                  </a:ext>
                </a:extLst>
              </a:tr>
              <a:tr h="637042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I/O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1260" marR="6126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Moves data between the memory and its external environment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1260" marR="6126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78673"/>
                  </a:ext>
                </a:extLst>
              </a:tr>
              <a:tr h="127408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System Interconnection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1260" marR="6126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Some mechanism that provides for communication among CPU, main memory and I/O. it is done through system bus.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1260" marR="6126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322824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7FBA-43C7-4D2C-AE82-C00F8F7AF623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FC381B-254A-46D8-B8F2-41289971B2F6}"/>
              </a:ext>
            </a:extLst>
          </p:cNvPr>
          <p:cNvPicPr/>
          <p:nvPr/>
        </p:nvPicPr>
        <p:blipFill rotWithShape="1">
          <a:blip r:embed="rId2"/>
          <a:srcRect l="4586" r="54027" b="63266"/>
          <a:stretch/>
        </p:blipFill>
        <p:spPr bwMode="auto">
          <a:xfrm>
            <a:off x="5562600" y="1079722"/>
            <a:ext cx="3048000" cy="2984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307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Structural view of Computer System (Contd.)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D3746-4982-4E0E-9E68-F620ED57D514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FC381B-254A-46D8-B8F2-41289971B2F6}"/>
              </a:ext>
            </a:extLst>
          </p:cNvPr>
          <p:cNvPicPr/>
          <p:nvPr/>
        </p:nvPicPr>
        <p:blipFill>
          <a:blip r:embed="rId2"/>
          <a:srcRect l="4586" r="2293"/>
          <a:stretch>
            <a:fillRect/>
          </a:stretch>
        </p:blipFill>
        <p:spPr bwMode="auto">
          <a:xfrm>
            <a:off x="5174673" y="666751"/>
            <a:ext cx="3740727" cy="409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AFC62D41-0124-4DF8-9C1D-538D899440CB}"/>
              </a:ext>
            </a:extLst>
          </p:cNvPr>
          <p:cNvSpPr/>
          <p:nvPr/>
        </p:nvSpPr>
        <p:spPr>
          <a:xfrm>
            <a:off x="4876800" y="2918221"/>
            <a:ext cx="2743200" cy="196691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161F095E-58D7-4D18-9D2A-9B567AD79F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056548"/>
              </p:ext>
            </p:extLst>
          </p:nvPr>
        </p:nvGraphicFramePr>
        <p:xfrm>
          <a:off x="457200" y="971550"/>
          <a:ext cx="4267200" cy="36519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1709">
                  <a:extLst>
                    <a:ext uri="{9D8B030D-6E8A-4147-A177-3AD203B41FA5}">
                      <a16:colId xmlns:a16="http://schemas.microsoft.com/office/drawing/2014/main" val="4044477682"/>
                    </a:ext>
                  </a:extLst>
                </a:gridCol>
                <a:gridCol w="2715491">
                  <a:extLst>
                    <a:ext uri="{9D8B030D-6E8A-4147-A177-3AD203B41FA5}">
                      <a16:colId xmlns:a16="http://schemas.microsoft.com/office/drawing/2014/main" val="947043595"/>
                    </a:ext>
                  </a:extLst>
                </a:gridCol>
              </a:tblGrid>
              <a:tr h="91299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Control Unit: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Controls the operation of the CPU and hence the computer.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589984"/>
                  </a:ext>
                </a:extLst>
              </a:tr>
              <a:tr h="60866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ALU: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Performs the computer’s data processing function.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543622"/>
                  </a:ext>
                </a:extLst>
              </a:tr>
              <a:tr h="60866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Registers: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Provides storage internal to the CPU.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61167"/>
                  </a:ext>
                </a:extLst>
              </a:tr>
              <a:tr h="152166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CPU interconnection: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Some mechanisms that provide for communication among the CU, ALU and registers.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436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2459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Structural view of Computer System (Contd.)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9022-79B5-4FE2-8F04-22E561D9CCC8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FC381B-254A-46D8-B8F2-41289971B2F6}"/>
              </a:ext>
            </a:extLst>
          </p:cNvPr>
          <p:cNvPicPr/>
          <p:nvPr/>
        </p:nvPicPr>
        <p:blipFill>
          <a:blip r:embed="rId2"/>
          <a:srcRect l="4586" r="2293"/>
          <a:stretch>
            <a:fillRect/>
          </a:stretch>
        </p:blipFill>
        <p:spPr bwMode="auto">
          <a:xfrm>
            <a:off x="5174673" y="666751"/>
            <a:ext cx="3740727" cy="409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44F8C9D-C39F-4141-8038-C7DCDF3923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420825"/>
              </p:ext>
            </p:extLst>
          </p:nvPr>
        </p:nvGraphicFramePr>
        <p:xfrm>
          <a:off x="533401" y="895350"/>
          <a:ext cx="4343399" cy="37591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9347">
                  <a:extLst>
                    <a:ext uri="{9D8B030D-6E8A-4147-A177-3AD203B41FA5}">
                      <a16:colId xmlns:a16="http://schemas.microsoft.com/office/drawing/2014/main" val="3299413494"/>
                    </a:ext>
                  </a:extLst>
                </a:gridCol>
                <a:gridCol w="2974052">
                  <a:extLst>
                    <a:ext uri="{9D8B030D-6E8A-4147-A177-3AD203B41FA5}">
                      <a16:colId xmlns:a16="http://schemas.microsoft.com/office/drawing/2014/main" val="806183704"/>
                    </a:ext>
                  </a:extLst>
                </a:gridCol>
              </a:tblGrid>
              <a:tr h="127071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Control Memory: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The registers which store data related to control operation.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53056"/>
                  </a:ext>
                </a:extLst>
              </a:tr>
              <a:tr h="12177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Sequential Logic: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Digital circuit whose output depends on current input and state of circuit.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9282"/>
                  </a:ext>
                </a:extLst>
              </a:tr>
              <a:tr h="127071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CU register &amp; decoder: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Performs storage and interpretation of the instruction.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400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049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2. System Buses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70000" lnSpcReduction="20000"/>
          </a:bodyPr>
          <a:lstStyle/>
          <a:p>
            <a:r>
              <a:rPr lang="en-US" dirty="0"/>
              <a:t>Physically, a bus is a set of wires. </a:t>
            </a:r>
          </a:p>
          <a:p>
            <a:r>
              <a:rPr lang="en-US" dirty="0"/>
              <a:t>The components of the computer are connected to the buses. </a:t>
            </a:r>
          </a:p>
          <a:p>
            <a:r>
              <a:rPr lang="en-US" dirty="0"/>
              <a:t>To send information form one component to another, the source component outputs data onto the bus. </a:t>
            </a:r>
          </a:p>
          <a:p>
            <a:r>
              <a:rPr lang="en-US" dirty="0"/>
              <a:t>The destination component then inputs this data from the bus. </a:t>
            </a:r>
          </a:p>
          <a:p>
            <a:r>
              <a:rPr lang="en-US" dirty="0"/>
              <a:t>As the complexity of a computer system increases, it becomes more efficient at using buses rather than direct connections between every pair of devices. </a:t>
            </a:r>
          </a:p>
          <a:p>
            <a:r>
              <a:rPr lang="en-US" dirty="0"/>
              <a:t>Buses use less space on a circuit board and require less power than a large number of direct connections. </a:t>
            </a:r>
          </a:p>
          <a:p>
            <a:r>
              <a:rPr lang="en-US" dirty="0"/>
              <a:t>They also require fewer pins on the chip or chips that comprise the CPU.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634E1-BBE4-43D0-868F-A43857B27A2E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360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2. System Buses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7924800" cy="385167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62500" lnSpcReduction="20000"/>
          </a:bodyPr>
          <a:lstStyle/>
          <a:p>
            <a:r>
              <a:rPr lang="en-US" dirty="0"/>
              <a:t>It is a shared transmission medium. Multiple devices connect to the bus, and a signal transmitted by one device is available for reception by all other devices attached to the bus. </a:t>
            </a:r>
          </a:p>
          <a:p>
            <a:r>
              <a:rPr lang="en-US" dirty="0"/>
              <a:t>If two devices transmit during the same time period, their signals will overlap and become garbled. </a:t>
            </a:r>
          </a:p>
          <a:p>
            <a:r>
              <a:rPr lang="en-US" dirty="0"/>
              <a:t>Thus, only one device, at a time, can successfully transmit.</a:t>
            </a:r>
          </a:p>
          <a:p>
            <a:r>
              <a:rPr lang="en-US" dirty="0"/>
              <a:t>Typically, a bus consists of multiple communication pathways or lines. </a:t>
            </a:r>
          </a:p>
          <a:p>
            <a:r>
              <a:rPr lang="en-US" dirty="0"/>
              <a:t>Each line is capable of transmitting signals representing binary 1 or 0. </a:t>
            </a:r>
          </a:p>
          <a:p>
            <a:r>
              <a:rPr lang="en-US" dirty="0"/>
              <a:t>An 8-bit unit of data can be transmitted over eight bus lines. </a:t>
            </a:r>
          </a:p>
          <a:p>
            <a:r>
              <a:rPr lang="en-US" dirty="0"/>
              <a:t>A bus that connects major computer components (processor, memory, IO) is called a system bus.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FF83-306D-4AB9-B458-924B8F25BB06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091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2. System Buses (Contd.)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846F69D-A1C1-4E45-9A0D-B2A30A0EEC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6003231"/>
              </p:ext>
            </p:extLst>
          </p:nvPr>
        </p:nvGraphicFramePr>
        <p:xfrm>
          <a:off x="457200" y="866061"/>
          <a:ext cx="4267201" cy="34582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6745">
                  <a:extLst>
                    <a:ext uri="{9D8B030D-6E8A-4147-A177-3AD203B41FA5}">
                      <a16:colId xmlns:a16="http://schemas.microsoft.com/office/drawing/2014/main" val="370810971"/>
                    </a:ext>
                  </a:extLst>
                </a:gridCol>
                <a:gridCol w="3510456">
                  <a:extLst>
                    <a:ext uri="{9D8B030D-6E8A-4147-A177-3AD203B41FA5}">
                      <a16:colId xmlns:a16="http://schemas.microsoft.com/office/drawing/2014/main" val="2077539314"/>
                    </a:ext>
                  </a:extLst>
                </a:gridCol>
              </a:tblGrid>
              <a:tr h="69165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Data Lines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The data lines provide a path for moving data among system modules. These lines, collectively, are called the data bus.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032913"/>
                  </a:ext>
                </a:extLst>
              </a:tr>
              <a:tr h="69165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Address Lines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The address lines are used to designate the source or destination of the data on the data bus.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269627"/>
                  </a:ext>
                </a:extLst>
              </a:tr>
              <a:tr h="207497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Control Lines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The control lines are used to control the access to and the use of the data and address lines.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Control signals transmit both command and timing information among system modules. </a:t>
                      </a:r>
                    </a:p>
                    <a:p>
                      <a:pPr marL="457200" marR="0" indent="-285750" algn="jus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Timing signals indicate the validity of data and address information. </a:t>
                      </a:r>
                    </a:p>
                    <a:p>
                      <a:pPr marL="457200" marR="0" indent="-285750" algn="jus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Command signals specify operation to be performed.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142832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8C99-D533-42B0-9DF2-E2FC6C6329C4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57292F-3A18-499E-882D-122985B6CBE6}"/>
              </a:ext>
            </a:extLst>
          </p:cNvPr>
          <p:cNvPicPr/>
          <p:nvPr/>
        </p:nvPicPr>
        <p:blipFill>
          <a:blip r:embed="rId2"/>
          <a:srcRect b="5692"/>
          <a:stretch>
            <a:fillRect/>
          </a:stretch>
        </p:blipFill>
        <p:spPr bwMode="auto">
          <a:xfrm>
            <a:off x="4876800" y="866060"/>
            <a:ext cx="4267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70649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3. Instruction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F362A-811E-455D-A404-FF9C92D3E32E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CF66BC-67EA-4EA6-AED7-17F9A548001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95400" y="1331953"/>
            <a:ext cx="70104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351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263512-2E45-46B5-8D52-0433CA2977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936490" y="44133"/>
            <a:ext cx="3719830" cy="13214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3. Instruction Cycle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65568"/>
            <a:ext cx="8229600" cy="322905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70000" lnSpcReduction="20000"/>
          </a:bodyPr>
          <a:lstStyle/>
          <a:p>
            <a:r>
              <a:rPr lang="en-US" dirty="0"/>
              <a:t>The instruction cycle is the procedure a microprocessor goes through to process an instruction.</a:t>
            </a:r>
          </a:p>
          <a:p>
            <a:r>
              <a:rPr lang="en-US" dirty="0"/>
              <a:t>First the microprocessor </a:t>
            </a:r>
            <a:r>
              <a:rPr lang="en-US" b="1" dirty="0"/>
              <a:t>fetches</a:t>
            </a:r>
            <a:r>
              <a:rPr lang="en-US" dirty="0"/>
              <a:t> or reads, the instruction from memory. </a:t>
            </a:r>
          </a:p>
          <a:p>
            <a:r>
              <a:rPr lang="en-US" dirty="0"/>
              <a:t>Then it </a:t>
            </a:r>
            <a:r>
              <a:rPr lang="en-US" b="1" dirty="0"/>
              <a:t>decodes</a:t>
            </a:r>
            <a:r>
              <a:rPr lang="en-US" dirty="0"/>
              <a:t> the instruction, determining which instruction it has fetched. </a:t>
            </a:r>
          </a:p>
          <a:p>
            <a:r>
              <a:rPr lang="en-US" dirty="0"/>
              <a:t>Finally, it performs the operations necessary to </a:t>
            </a:r>
            <a:r>
              <a:rPr lang="en-US" b="1" dirty="0"/>
              <a:t>execute</a:t>
            </a:r>
            <a:r>
              <a:rPr lang="en-US" dirty="0"/>
              <a:t> the instruction.</a:t>
            </a:r>
          </a:p>
          <a:p>
            <a:r>
              <a:rPr lang="en-US" dirty="0"/>
              <a:t>Each of these functions- fetch, decode and execute- consists of a sequence of one or more operations.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74FF1-6455-419E-BACF-7D3D6190CBF3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331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4. CPU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5715000" cy="3851673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62500" lnSpcReduction="20000"/>
          </a:bodyPr>
          <a:lstStyle/>
          <a:p>
            <a:r>
              <a:rPr lang="en-US" dirty="0"/>
              <a:t>CPU consists of three components: </a:t>
            </a:r>
          </a:p>
          <a:p>
            <a:pPr lvl="1"/>
            <a:r>
              <a:rPr lang="en-US" dirty="0"/>
              <a:t>ALU, </a:t>
            </a:r>
          </a:p>
          <a:p>
            <a:pPr lvl="1"/>
            <a:r>
              <a:rPr lang="en-US" dirty="0"/>
              <a:t>CU and </a:t>
            </a:r>
          </a:p>
          <a:p>
            <a:pPr lvl="1"/>
            <a:r>
              <a:rPr lang="en-US" dirty="0"/>
              <a:t>Registers. </a:t>
            </a:r>
          </a:p>
          <a:p>
            <a:r>
              <a:rPr lang="en-US" dirty="0"/>
              <a:t>ALU performs arithmetic and logical operation, </a:t>
            </a:r>
          </a:p>
          <a:p>
            <a:r>
              <a:rPr lang="en-US" dirty="0"/>
              <a:t>CU provides control signals, and </a:t>
            </a:r>
          </a:p>
          <a:p>
            <a:r>
              <a:rPr lang="en-US" dirty="0"/>
              <a:t>Registers store binary information and provide very fast information to ALU and out of CPU. </a:t>
            </a:r>
          </a:p>
          <a:p>
            <a:r>
              <a:rPr lang="en-US" dirty="0"/>
              <a:t>These components are connected with each other and with external environment through system bus as shown below:</a:t>
            </a: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DBF3C-041F-4AFB-A8BA-A9893C6F2ADF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CD005B-D02C-4C96-BD31-A421F20F5E85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6172200" y="666750"/>
            <a:ext cx="2869324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8834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FF0000"/>
                </a:solidFill>
              </a:rPr>
              <a:t>2.4 Memory Sub-system Organization and Interfacing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Memory is the group of circuits used to store data. </a:t>
            </a:r>
          </a:p>
          <a:p>
            <a:r>
              <a:rPr lang="en-US" sz="2400" dirty="0"/>
              <a:t>Two types of Memory: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RAM</a:t>
            </a:r>
          </a:p>
          <a:p>
            <a:pPr marL="1314450" lvl="2" indent="-457200">
              <a:buFont typeface="+mj-lt"/>
              <a:buAutoNum type="alphaLcParenR"/>
            </a:pPr>
            <a:r>
              <a:rPr lang="en-US" sz="1600" dirty="0"/>
              <a:t>SRAM: </a:t>
            </a:r>
          </a:p>
          <a:p>
            <a:pPr marL="1541463" lvl="3" indent="-227013">
              <a:buFont typeface="Wingdings" panose="05000000000000000000" pitchFamily="2" charset="2"/>
              <a:buChar char="§"/>
            </a:pPr>
            <a:r>
              <a:rPr lang="en-US" sz="1200" dirty="0"/>
              <a:t>More like registers, no need of refresh</a:t>
            </a:r>
          </a:p>
          <a:p>
            <a:pPr marL="1314450" lvl="2" indent="-457200">
              <a:buFont typeface="+mj-lt"/>
              <a:buAutoNum type="alphaLcParenR"/>
            </a:pPr>
            <a:r>
              <a:rPr lang="en-US" sz="1600" dirty="0"/>
              <a:t>DRAM: </a:t>
            </a:r>
          </a:p>
          <a:p>
            <a:pPr marL="1541463" lvl="3" indent="-227013">
              <a:buFont typeface="Wingdings" panose="05000000000000000000" pitchFamily="2" charset="2"/>
              <a:buChar char="§"/>
            </a:pPr>
            <a:r>
              <a:rPr lang="en-US" sz="1200" dirty="0"/>
              <a:t>Leaky capacitor, needs refresh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ROM</a:t>
            </a:r>
          </a:p>
          <a:p>
            <a:pPr marL="1314450" lvl="2" indent="-457200">
              <a:buFont typeface="+mj-lt"/>
              <a:buAutoNum type="alphaLcParenR"/>
            </a:pPr>
            <a:r>
              <a:rPr lang="en-US" sz="1600" dirty="0"/>
              <a:t>PROM (Programmable ROM)</a:t>
            </a:r>
          </a:p>
          <a:p>
            <a:pPr marL="1314450" lvl="2" indent="-457200">
              <a:buFont typeface="+mj-lt"/>
              <a:buAutoNum type="alphaLcParenR"/>
            </a:pPr>
            <a:r>
              <a:rPr lang="en-US" sz="1600" dirty="0"/>
              <a:t>EPROM (Erasable PROM)</a:t>
            </a:r>
          </a:p>
          <a:p>
            <a:pPr marL="1541463" lvl="3" indent="-227013">
              <a:buFont typeface="Wingdings" panose="05000000000000000000" pitchFamily="2" charset="2"/>
              <a:buChar char="§"/>
            </a:pPr>
            <a:r>
              <a:rPr lang="en-US" sz="1200" dirty="0"/>
              <a:t>can be reprogrammed if required by exposing it to ultraviolet light. </a:t>
            </a:r>
            <a:endParaRPr lang="en-US" sz="600" dirty="0"/>
          </a:p>
          <a:p>
            <a:pPr marL="1314450" lvl="2" indent="-457200">
              <a:buFont typeface="+mj-lt"/>
              <a:buAutoNum type="alphaLcParenR"/>
            </a:pPr>
            <a:r>
              <a:rPr lang="en-US" sz="1600" dirty="0"/>
              <a:t>EEPROM (Electrically Erasable PROM)</a:t>
            </a:r>
          </a:p>
          <a:p>
            <a:pPr marL="1541463" lvl="3" indent="-227013">
              <a:buFont typeface="Wingdings" panose="05000000000000000000" pitchFamily="2" charset="2"/>
              <a:buChar char="§"/>
            </a:pPr>
            <a:r>
              <a:rPr lang="en-US" sz="1200" dirty="0"/>
              <a:t>write and erase operations are performed one byte at a time ,  by application of electrical potential</a:t>
            </a:r>
          </a:p>
          <a:p>
            <a:pPr marL="1314450" lvl="2" indent="-457200">
              <a:buFont typeface="+mj-lt"/>
              <a:buAutoNum type="alphaLcParenR"/>
            </a:pPr>
            <a:r>
              <a:rPr lang="en-US" sz="1600" dirty="0"/>
              <a:t>Flash Memory</a:t>
            </a:r>
            <a:endParaRPr lang="en-US" sz="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7499E-713D-4E7D-AF1D-F6EFD0E281F8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55F9CE-D0EF-45A0-90A4-04F48A66D691}"/>
              </a:ext>
            </a:extLst>
          </p:cNvPr>
          <p:cNvSpPr/>
          <p:nvPr/>
        </p:nvSpPr>
        <p:spPr>
          <a:xfrm>
            <a:off x="3429001" y="4248150"/>
            <a:ext cx="5181600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Reference: </a:t>
            </a:r>
            <a:r>
              <a:rPr lang="en-US" sz="1050" dirty="0">
                <a:hlinkClick r:id="rId2"/>
              </a:rPr>
              <a:t>https://www.guru99.com/different-types-ram-random-access-memory.html</a:t>
            </a:r>
            <a:endParaRPr lang="en-US" sz="1050" dirty="0"/>
          </a:p>
          <a:p>
            <a:r>
              <a:rPr lang="en-US" sz="1050" dirty="0"/>
              <a:t> </a:t>
            </a:r>
            <a:r>
              <a:rPr lang="en-US" sz="1050" dirty="0">
                <a:hlinkClick r:id="rId3"/>
              </a:rPr>
              <a:t>https://www.scaler.com/topics/what-is-rom/</a:t>
            </a:r>
            <a:endParaRPr lang="en-US" sz="1050" dirty="0"/>
          </a:p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096513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B050"/>
                </a:solidFill>
              </a:rPr>
              <a:t>RAM 			Vs 		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114800" cy="385167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lvl="0"/>
            <a:r>
              <a:rPr lang="en-US" sz="1800" dirty="0"/>
              <a:t>Volatile in nature.</a:t>
            </a:r>
          </a:p>
          <a:p>
            <a:pPr lvl="0"/>
            <a:r>
              <a:rPr lang="en-US" sz="1800" dirty="0"/>
              <a:t>Used for reading and writing data in any order as required. </a:t>
            </a:r>
          </a:p>
          <a:p>
            <a:pPr lvl="0"/>
            <a:r>
              <a:rPr lang="en-US" sz="1800" dirty="0"/>
              <a:t>Data is stored and read many times to and from this type of memory.</a:t>
            </a:r>
          </a:p>
          <a:p>
            <a:r>
              <a:rPr lang="en-US" sz="1800" dirty="0"/>
              <a:t> Memory cells can be accessed for information transfer from any desired random location. </a:t>
            </a:r>
            <a:endParaRPr lang="en-US" sz="11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F071-98B0-4C3B-8A1F-394D9D702C5D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3CCC05-1811-4437-95DD-D5BE1BF89C62}"/>
              </a:ext>
            </a:extLst>
          </p:cNvPr>
          <p:cNvSpPr txBox="1">
            <a:spLocks/>
          </p:cNvSpPr>
          <p:nvPr/>
        </p:nvSpPr>
        <p:spPr>
          <a:xfrm>
            <a:off x="4572000" y="742950"/>
            <a:ext cx="4267200" cy="385167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800" dirty="0"/>
              <a:t>Read only memory (ROM) contains a permanent pattern of data that cannot be changed. </a:t>
            </a:r>
          </a:p>
          <a:p>
            <a:pPr lvl="0"/>
            <a:r>
              <a:rPr lang="en-US" sz="1800" dirty="0"/>
              <a:t>A ROM is non-volatile, i.e., no power source is required to maintain the bit values in memory.</a:t>
            </a:r>
          </a:p>
          <a:p>
            <a:pPr lvl="0"/>
            <a:r>
              <a:rPr lang="en-US" sz="1800" dirty="0"/>
              <a:t>While it is possible to read a ROM, it is not possible to write new data into it.</a:t>
            </a:r>
          </a:p>
          <a:p>
            <a:pPr lvl="0"/>
            <a:r>
              <a:rPr lang="en-US" sz="1800" dirty="0"/>
              <a:t>The data or program is permanently presented in main memory and never be loaded from a secondary storage device with the advantage of ROM. </a:t>
            </a:r>
          </a:p>
        </p:txBody>
      </p:sp>
    </p:spTree>
    <p:extLst>
      <p:ext uri="{BB962C8B-B14F-4D97-AF65-F5344CB8AC3E}">
        <p14:creationId xmlns:p14="http://schemas.microsoft.com/office/powerpoint/2010/main" val="1177260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B050"/>
                </a:solidFill>
              </a:rPr>
              <a:t>Internal Chip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2000" dirty="0"/>
              <a:t>Linear organization</a:t>
            </a:r>
          </a:p>
          <a:p>
            <a:r>
              <a:rPr lang="en-US" sz="2000" dirty="0"/>
              <a:t>Two-dimensional organization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ACF5-825C-4F28-99E9-C69E857FEA3C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007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70C0"/>
                </a:solidFill>
              </a:rPr>
              <a:t>Linear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742950"/>
            <a:ext cx="4388225" cy="3851673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47500" lnSpcReduction="20000"/>
          </a:bodyPr>
          <a:lstStyle/>
          <a:p>
            <a:r>
              <a:rPr lang="en-US" sz="4400" dirty="0"/>
              <a:t>Consider an 8 x 2 ROM chip:  (Chip is in 2</a:t>
            </a:r>
            <a:r>
              <a:rPr lang="en-US" sz="4400" baseline="30000" dirty="0"/>
              <a:t>n</a:t>
            </a:r>
            <a:r>
              <a:rPr lang="en-US" sz="4400" dirty="0"/>
              <a:t> x m representation where n is address line and m is data line)</a:t>
            </a:r>
          </a:p>
          <a:p>
            <a:pPr lvl="1"/>
            <a:r>
              <a:rPr lang="en-US" sz="3800" dirty="0"/>
              <a:t>Address line = 3 </a:t>
            </a:r>
          </a:p>
          <a:p>
            <a:pPr lvl="1"/>
            <a:r>
              <a:rPr lang="en-US" sz="3800" dirty="0"/>
              <a:t>Data lines = 2 </a:t>
            </a:r>
          </a:p>
          <a:p>
            <a:pPr lvl="1"/>
            <a:r>
              <a:rPr lang="en-US" sz="3800" dirty="0"/>
              <a:t>16 bits of internal storage </a:t>
            </a:r>
          </a:p>
          <a:p>
            <a:pPr lvl="1"/>
            <a:r>
              <a:rPr lang="en-US" sz="3800" dirty="0"/>
              <a:t>If CE = 0, decoder is disabled and no location is selected. The Tri-state buffer for that location’s cell are enabled, allowing data to pass to the output buffers.</a:t>
            </a:r>
          </a:p>
          <a:p>
            <a:pPr lvl="1"/>
            <a:r>
              <a:rPr lang="en-US" sz="3800" dirty="0"/>
              <a:t>If CE = 1and OE= 1, tri-state buffer for that location cell is enabled and data is output from the chip; otherwise the outputs are tri-stated.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20B9-E006-4C85-A51D-6991C0A53054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550B6E-F03E-42DE-8FE9-7AC69F200D68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45425" y="759759"/>
            <a:ext cx="3809999" cy="334264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8009CE-B3E7-45BE-BC4E-372A62531D47}"/>
              </a:ext>
            </a:extLst>
          </p:cNvPr>
          <p:cNvCxnSpPr>
            <a:cxnSpLocks/>
          </p:cNvCxnSpPr>
          <p:nvPr/>
        </p:nvCxnSpPr>
        <p:spPr>
          <a:xfrm>
            <a:off x="8115300" y="2876550"/>
            <a:ext cx="0" cy="76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B35418-9678-419A-9E4C-EB419D944446}"/>
              </a:ext>
            </a:extLst>
          </p:cNvPr>
          <p:cNvCxnSpPr/>
          <p:nvPr/>
        </p:nvCxnSpPr>
        <p:spPr>
          <a:xfrm>
            <a:off x="7315200" y="2952750"/>
            <a:ext cx="838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956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70C0"/>
                </a:solidFill>
              </a:rPr>
              <a:t>Classwork: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742950"/>
            <a:ext cx="2667001" cy="3851673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2000" b="1" dirty="0"/>
              <a:t>show the internal linear configuration of a 32x2 memory chip. </a:t>
            </a:r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20B9-E006-4C85-A51D-6991C0A53054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883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70C0"/>
                </a:solidFill>
              </a:rPr>
              <a:t>Classwork: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742950"/>
            <a:ext cx="2667001" cy="3851673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2000" b="1" dirty="0"/>
              <a:t>show the internal linear configuration of a 32x2 memory chip. </a:t>
            </a:r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20B9-E006-4C85-A51D-6991C0A53054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F6DE07-D40D-434B-90FC-EDD097170DB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733800" y="742950"/>
            <a:ext cx="4953000" cy="385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62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70C0"/>
                </a:solidFill>
              </a:rPr>
              <a:t>Two-dimensional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742950"/>
            <a:ext cx="3350223" cy="3851673"/>
          </a:xfrm>
          <a:solidFill>
            <a:schemeClr val="accent3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r>
              <a:rPr lang="en-US" sz="1600" dirty="0"/>
              <a:t>As the number of locations increases, the size of address decoder needed, becomes extremely large. </a:t>
            </a:r>
          </a:p>
          <a:p>
            <a:r>
              <a:rPr lang="en-US" sz="1600" dirty="0"/>
              <a:t>To remedy this problem, the memory chip can be designed using multiple dimension of decoding.</a:t>
            </a:r>
          </a:p>
          <a:p>
            <a:r>
              <a:rPr lang="en-US" sz="1600" dirty="0"/>
              <a:t>This configuration has four rows with four bits per row; each holds two data values.</a:t>
            </a:r>
          </a:p>
          <a:p>
            <a:r>
              <a:rPr lang="en-US" sz="1600" dirty="0"/>
              <a:t>Here, </a:t>
            </a:r>
          </a:p>
          <a:p>
            <a:r>
              <a:rPr lang="en-US" sz="1600" dirty="0"/>
              <a:t>A0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selects one of the 2 locations in a row</a:t>
            </a:r>
          </a:p>
          <a:p>
            <a:r>
              <a:rPr lang="en-US" sz="1600" dirty="0"/>
              <a:t>A1, A2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selects one of 4 rows.</a:t>
            </a:r>
          </a:p>
          <a:p>
            <a:endParaRPr lang="en-US" sz="11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10AF5-F8C9-4AAE-AD94-676C035E7B04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9025E1-35A6-49AF-93CF-2B61DE0A381B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07423" y="755276"/>
            <a:ext cx="4726977" cy="326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059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2.5 Memory Sub system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2000" dirty="0"/>
              <a:t>There is technique for joining memory chips to form a memory subsystem. </a:t>
            </a:r>
          </a:p>
          <a:p>
            <a:r>
              <a:rPr lang="en-US" sz="2000" dirty="0"/>
              <a:t>Two or more chips can be combined to generate a memory with more bits per location. </a:t>
            </a:r>
          </a:p>
          <a:p>
            <a:r>
              <a:rPr lang="en-US" sz="2000" dirty="0"/>
              <a:t>This is done by linking the corresponding address and control signals of the chips and linking their data pins to various bits of the data bus.</a:t>
            </a:r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8DD6-96E3-4308-B4DD-739F64B8164B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104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B050"/>
                </a:solidFill>
              </a:rPr>
              <a:t>Construction of 8 x 4 ROM from two 8 x 2 ROMs: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657600" cy="3851673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2400" b="1" dirty="0"/>
              <a:t>Two 8 x 2 chips </a:t>
            </a:r>
            <a:r>
              <a:rPr lang="en-US" sz="2400" dirty="0"/>
              <a:t>can be </a:t>
            </a:r>
            <a:r>
              <a:rPr lang="en-US" sz="2400" b="1" dirty="0"/>
              <a:t>combined </a:t>
            </a:r>
            <a:r>
              <a:rPr lang="en-US" sz="2400" dirty="0"/>
              <a:t>to generate an </a:t>
            </a:r>
            <a:r>
              <a:rPr lang="en-US" sz="2400" b="1" dirty="0"/>
              <a:t>8 x 4 memory </a:t>
            </a:r>
            <a:r>
              <a:rPr lang="en-US" sz="2400" dirty="0"/>
              <a:t>as displayed in the figure.</a:t>
            </a:r>
          </a:p>
          <a:p>
            <a:r>
              <a:rPr lang="en-US" sz="2400" b="1" dirty="0"/>
              <a:t>Both chips get the equal three address inputs </a:t>
            </a:r>
            <a:r>
              <a:rPr lang="en-US" sz="2400" dirty="0"/>
              <a:t>from the bus, and the same </a:t>
            </a:r>
            <a:r>
              <a:rPr lang="en-US" sz="2400"/>
              <a:t>chip enable (CE) </a:t>
            </a:r>
            <a:r>
              <a:rPr lang="en-US" sz="2400" dirty="0"/>
              <a:t>and </a:t>
            </a:r>
            <a:r>
              <a:rPr lang="en-US" sz="2400"/>
              <a:t>output enable (OE) </a:t>
            </a:r>
            <a:r>
              <a:rPr lang="en-US" sz="2400" dirty="0"/>
              <a:t>signals.</a:t>
            </a:r>
          </a:p>
          <a:p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36FE-39BF-49D2-BB83-2627C70BDED8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 descr="https://www.tutorialspoint.com/assets/questions/media/54519/memory_subsystem.jpg">
            <a:extLst>
              <a:ext uri="{FF2B5EF4-FFF2-40B4-BE49-F238E27FC236}">
                <a16:creationId xmlns:a16="http://schemas.microsoft.com/office/drawing/2014/main" id="{A778BC84-F428-427C-A9AA-4986ED84B733}"/>
              </a:ext>
            </a:extLst>
          </p:cNvPr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354"/>
          <a:stretch/>
        </p:blipFill>
        <p:spPr bwMode="auto">
          <a:xfrm>
            <a:off x="4343400" y="796488"/>
            <a:ext cx="4099560" cy="37445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62435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B050"/>
                </a:solidFill>
              </a:rPr>
              <a:t>Construction of 8 x 4 ROM from two 8 x 2 ROMs: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886200" cy="3851673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en-US" sz="2400" dirty="0"/>
              <a:t>The data chips of the first chips are linked to bits 3 and 2 of the data bus(i.e. D</a:t>
            </a:r>
            <a:r>
              <a:rPr lang="en-US" sz="2400" baseline="-25000" dirty="0"/>
              <a:t>3</a:t>
            </a:r>
            <a:r>
              <a:rPr lang="en-US" sz="2400" dirty="0"/>
              <a:t> and D</a:t>
            </a:r>
            <a:r>
              <a:rPr lang="en-US" sz="2400" baseline="-25000" dirty="0"/>
              <a:t>2</a:t>
            </a:r>
            <a:r>
              <a:rPr lang="en-US" sz="2400" dirty="0"/>
              <a:t>) </a:t>
            </a:r>
          </a:p>
          <a:p>
            <a:r>
              <a:rPr lang="en-US" sz="2400" dirty="0"/>
              <a:t>and those of the other chips are linked to bits 1 and 0 (i.e. D</a:t>
            </a:r>
            <a:r>
              <a:rPr lang="en-US" sz="2400" baseline="-25000" dirty="0"/>
              <a:t>1</a:t>
            </a:r>
            <a:r>
              <a:rPr lang="en-US" sz="2400" dirty="0"/>
              <a:t> and D</a:t>
            </a:r>
            <a:r>
              <a:rPr lang="en-US" sz="2400" baseline="-25000" dirty="0"/>
              <a:t>0</a:t>
            </a:r>
            <a:r>
              <a:rPr lang="en-US" sz="2400" dirty="0"/>
              <a:t>) </a:t>
            </a:r>
          </a:p>
          <a:p>
            <a:r>
              <a:rPr lang="en-US" sz="2400" dirty="0"/>
              <a:t>When the CPU reads data, it locates the address on the address bus. </a:t>
            </a:r>
          </a:p>
          <a:p>
            <a:r>
              <a:rPr lang="en-US" sz="2400" dirty="0"/>
              <a:t>Both chips read in address bits A</a:t>
            </a:r>
            <a:r>
              <a:rPr lang="en-US" sz="2400" baseline="-25000" dirty="0"/>
              <a:t>2</a:t>
            </a:r>
            <a:r>
              <a:rPr lang="en-US" sz="2400" dirty="0"/>
              <a:t>, A</a:t>
            </a:r>
            <a:r>
              <a:rPr lang="en-US" sz="2400" baseline="-25000" dirty="0"/>
              <a:t>1</a:t>
            </a:r>
            <a:r>
              <a:rPr lang="en-US" sz="2400" dirty="0"/>
              <a:t>, and A</a:t>
            </a:r>
            <a:r>
              <a:rPr lang="en-US" sz="2400" baseline="-25000" dirty="0"/>
              <a:t>0</a:t>
            </a:r>
            <a:r>
              <a:rPr lang="en-US" sz="2400" dirty="0"/>
              <a:t> and implement their internal decoding..</a:t>
            </a:r>
          </a:p>
          <a:p>
            <a:endParaRPr lang="en-US" sz="105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6625-56A6-4590-9476-C0E9C98E0829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 descr="https://www.tutorialspoint.com/assets/questions/media/54519/memory_subsystem.jpg">
            <a:extLst>
              <a:ext uri="{FF2B5EF4-FFF2-40B4-BE49-F238E27FC236}">
                <a16:creationId xmlns:a16="http://schemas.microsoft.com/office/drawing/2014/main" id="{A778BC84-F428-427C-A9AA-4986ED84B733}"/>
              </a:ext>
            </a:extLst>
          </p:cNvPr>
          <p:cNvPicPr/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354"/>
          <a:stretch/>
        </p:blipFill>
        <p:spPr bwMode="auto">
          <a:xfrm>
            <a:off x="4343400" y="796488"/>
            <a:ext cx="4099560" cy="37445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31903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B050"/>
                </a:solidFill>
              </a:rPr>
              <a:t>Construction of 8 x 4 ROM from two 8 x 2 ROMs: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886200" cy="3851673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r>
              <a:rPr lang="en-US" sz="1800" dirty="0"/>
              <a:t>If the </a:t>
            </a:r>
            <a:r>
              <a:rPr lang="en-US" sz="1800" b="1" dirty="0"/>
              <a:t>CE </a:t>
            </a:r>
            <a:r>
              <a:rPr lang="en-US" sz="1800" dirty="0"/>
              <a:t>(Chip Enable) and </a:t>
            </a:r>
            <a:r>
              <a:rPr lang="en-US" sz="1800" b="1" dirty="0"/>
              <a:t>OE</a:t>
            </a:r>
            <a:r>
              <a:rPr lang="en-US" sz="1800" dirty="0"/>
              <a:t> (Output Enable) signals are </a:t>
            </a:r>
            <a:r>
              <a:rPr lang="en-US" sz="1800" b="1" dirty="0"/>
              <a:t>activated</a:t>
            </a:r>
            <a:r>
              <a:rPr lang="en-US" sz="1800" dirty="0"/>
              <a:t>, the </a:t>
            </a:r>
            <a:r>
              <a:rPr lang="en-US" sz="1800" b="1" dirty="0"/>
              <a:t>chips output their data onto the four bits </a:t>
            </a:r>
            <a:r>
              <a:rPr lang="en-US" sz="1800" dirty="0"/>
              <a:t>of the data bus. </a:t>
            </a:r>
          </a:p>
          <a:p>
            <a:r>
              <a:rPr lang="en-US" sz="1800" dirty="0"/>
              <a:t>Because the address and enable signals are equal for both chips, </a:t>
            </a:r>
            <a:r>
              <a:rPr lang="en-US" sz="1800" b="1" dirty="0"/>
              <a:t>either both chips and neither chip is active</a:t>
            </a:r>
            <a:r>
              <a:rPr lang="en-US" sz="1800" dirty="0"/>
              <a:t> at any given time. </a:t>
            </a:r>
          </a:p>
          <a:p>
            <a:r>
              <a:rPr lang="en-US" sz="1800" dirty="0"/>
              <a:t>The device never has only one of the two, active. </a:t>
            </a:r>
          </a:p>
          <a:p>
            <a:r>
              <a:rPr lang="en-US" sz="1800" dirty="0"/>
              <a:t>For this reason, they facilitate as only a single 8 x 4 chip at least until the CPU is concerned.</a:t>
            </a:r>
          </a:p>
          <a:p>
            <a:endParaRPr lang="en-US" sz="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1E96C-DE50-4023-80AA-E8537FFF5C2B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 descr="https://www.tutorialspoint.com/assets/questions/media/54519/memory_subsystem.jpg">
            <a:extLst>
              <a:ext uri="{FF2B5EF4-FFF2-40B4-BE49-F238E27FC236}">
                <a16:creationId xmlns:a16="http://schemas.microsoft.com/office/drawing/2014/main" id="{A778BC84-F428-427C-A9AA-4986ED84B733}"/>
              </a:ext>
            </a:extLst>
          </p:cNvPr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354"/>
          <a:stretch/>
        </p:blipFill>
        <p:spPr bwMode="auto">
          <a:xfrm>
            <a:off x="4343400" y="796488"/>
            <a:ext cx="4099560" cy="37445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369835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70C0"/>
                </a:solidFill>
              </a:rPr>
              <a:t>Construction of 16 x 2 ROM from two 8 x2 ROM chip: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90550"/>
            <a:ext cx="1905000" cy="396240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1600" dirty="0"/>
              <a:t>Instead of generating wider words, chips can be combined to make more words. </a:t>
            </a:r>
          </a:p>
          <a:p>
            <a:r>
              <a:rPr lang="en-US" sz="1600" dirty="0"/>
              <a:t>The similar two 8 x 2 chips could alternatively be configured as a 16 x 2 memory subsystem.</a:t>
            </a:r>
          </a:p>
          <a:p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16C3E-B4CB-4B68-AC53-81B40603F5B3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0E1C32-1B4E-4D25-9585-29522C407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590550"/>
            <a:ext cx="6284259" cy="417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6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D4F47A-F71A-4869-B607-951E4C83B0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119" b="3986"/>
          <a:stretch/>
        </p:blipFill>
        <p:spPr>
          <a:xfrm>
            <a:off x="4936035" y="0"/>
            <a:ext cx="4226203" cy="50863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70C0"/>
                </a:solidFill>
              </a:rPr>
              <a:t>Using high-order interleaving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648200" cy="3851673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en-US" sz="1800" dirty="0"/>
              <a:t>The configuration in figure (a) uses </a:t>
            </a:r>
            <a:r>
              <a:rPr lang="en-US" sz="1800" b="1" dirty="0"/>
              <a:t>high-order interleaving.</a:t>
            </a:r>
            <a:r>
              <a:rPr lang="en-US" sz="1800" dirty="0"/>
              <a:t> All memory locations inside a chip are contiguous within system memory. </a:t>
            </a:r>
          </a:p>
          <a:p>
            <a:r>
              <a:rPr lang="en-US" sz="1800" dirty="0"/>
              <a:t>The </a:t>
            </a:r>
            <a:r>
              <a:rPr lang="en-US" sz="1800" b="1" dirty="0"/>
              <a:t>upper chip </a:t>
            </a:r>
            <a:r>
              <a:rPr lang="en-US" sz="1800" dirty="0"/>
              <a:t>is configured as memory </a:t>
            </a:r>
            <a:r>
              <a:rPr lang="en-US" sz="1800" b="1" dirty="0"/>
              <a:t>locations 0 to 7 </a:t>
            </a:r>
            <a:r>
              <a:rPr lang="en-US" sz="1800" dirty="0"/>
              <a:t>(0000 to 0111) and </a:t>
            </a:r>
          </a:p>
          <a:p>
            <a:r>
              <a:rPr lang="en-US" sz="1800" dirty="0"/>
              <a:t>the </a:t>
            </a:r>
            <a:r>
              <a:rPr lang="en-US" sz="1800" b="1" dirty="0"/>
              <a:t>lower chip</a:t>
            </a:r>
            <a:r>
              <a:rPr lang="en-US" sz="1800" dirty="0"/>
              <a:t> as </a:t>
            </a:r>
            <a:r>
              <a:rPr lang="en-US" sz="1800" b="1" dirty="0"/>
              <a:t>locations 8 to 15 </a:t>
            </a:r>
            <a:r>
              <a:rPr lang="en-US" sz="1800" dirty="0"/>
              <a:t>(1000 to 1111).</a:t>
            </a:r>
          </a:p>
          <a:p>
            <a:r>
              <a:rPr lang="en-US" sz="1800" dirty="0"/>
              <a:t>The upper chip </a:t>
            </a:r>
            <a:r>
              <a:rPr lang="en-US" sz="1800" b="1" dirty="0"/>
              <a:t>always</a:t>
            </a:r>
            <a:r>
              <a:rPr lang="en-US" sz="1800" dirty="0"/>
              <a:t> has</a:t>
            </a:r>
            <a:r>
              <a:rPr lang="en-US" sz="1800" b="1" dirty="0"/>
              <a:t> A</a:t>
            </a:r>
            <a:r>
              <a:rPr lang="en-US" sz="1800" b="1" baseline="-25000" dirty="0"/>
              <a:t>3</a:t>
            </a:r>
            <a:r>
              <a:rPr lang="en-US" sz="1800" b="1" dirty="0"/>
              <a:t>=0 </a:t>
            </a:r>
            <a:r>
              <a:rPr lang="en-US" sz="1800" dirty="0"/>
              <a:t>and the lower chip has </a:t>
            </a:r>
            <a:r>
              <a:rPr lang="en-US" sz="1800" b="1" dirty="0"/>
              <a:t>A</a:t>
            </a:r>
            <a:r>
              <a:rPr lang="en-US" sz="1800" b="1" baseline="-25000" dirty="0"/>
              <a:t>3</a:t>
            </a:r>
            <a:r>
              <a:rPr lang="en-US" sz="1800" b="1" dirty="0"/>
              <a:t>=1. </a:t>
            </a:r>
          </a:p>
          <a:p>
            <a:r>
              <a:rPr lang="en-US" sz="1800" dirty="0"/>
              <a:t>This difference can choose one of the two chips. </a:t>
            </a:r>
          </a:p>
          <a:p>
            <a:r>
              <a:rPr lang="en-US" sz="1800" dirty="0"/>
              <a:t>When </a:t>
            </a:r>
            <a:r>
              <a:rPr lang="en-US" sz="1800" b="1" dirty="0"/>
              <a:t>A</a:t>
            </a:r>
            <a:r>
              <a:rPr lang="en-US" sz="1800" b="1" baseline="-25000" dirty="0"/>
              <a:t>3</a:t>
            </a:r>
            <a:r>
              <a:rPr lang="en-US" sz="1800" b="1" dirty="0"/>
              <a:t>=0, </a:t>
            </a:r>
            <a:r>
              <a:rPr lang="en-US" sz="1800" dirty="0"/>
              <a:t>the </a:t>
            </a:r>
            <a:r>
              <a:rPr lang="en-US" sz="1800" b="1" dirty="0"/>
              <a:t>upper chip is enabled </a:t>
            </a:r>
            <a:r>
              <a:rPr lang="en-US" sz="1800" dirty="0"/>
              <a:t>and the </a:t>
            </a:r>
            <a:r>
              <a:rPr lang="en-US" sz="1800" b="1" dirty="0"/>
              <a:t>lower chip is disabled. </a:t>
            </a:r>
          </a:p>
          <a:p>
            <a:r>
              <a:rPr lang="en-US" sz="1800" dirty="0"/>
              <a:t>The output enables can be linked, because only the chip that is enabled with output data. </a:t>
            </a:r>
          </a:p>
          <a:p>
            <a:r>
              <a:rPr lang="en-US" sz="1800" dirty="0"/>
              <a:t>Both chips correspond to similar data bits, both are linked to D</a:t>
            </a:r>
            <a:r>
              <a:rPr lang="en-US" sz="1800" baseline="-25000" dirty="0"/>
              <a:t>1</a:t>
            </a:r>
            <a:r>
              <a:rPr lang="en-US" sz="1800" dirty="0"/>
              <a:t> and D</a:t>
            </a:r>
            <a:r>
              <a:rPr lang="en-US" sz="1800" baseline="-25000" dirty="0"/>
              <a:t>0</a:t>
            </a:r>
            <a:r>
              <a:rPr lang="en-US" sz="1800" dirty="0"/>
              <a:t> of the data bus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EC172-EB6B-48A5-AA5C-C2DED307D7C8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5A7717-AE9D-4ADE-AC27-7562717539D9}"/>
              </a:ext>
            </a:extLst>
          </p:cNvPr>
          <p:cNvSpPr/>
          <p:nvPr/>
        </p:nvSpPr>
        <p:spPr>
          <a:xfrm>
            <a:off x="5105400" y="4248150"/>
            <a:ext cx="457200" cy="422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80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D4F47A-F71A-4869-B607-951E4C83B0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6000"/>
                    </a14:imgEffect>
                  </a14:imgLayer>
                </a14:imgProps>
              </a:ext>
            </a:extLst>
          </a:blip>
          <a:srcRect l="47574" t="838" r="545" b="3148"/>
          <a:stretch/>
        </p:blipFill>
        <p:spPr>
          <a:xfrm>
            <a:off x="4801179" y="1"/>
            <a:ext cx="4273689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70C0"/>
                </a:solidFill>
              </a:rPr>
              <a:t>Using low-order interleaving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648200" cy="3851673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2500"/>
          </a:bodyPr>
          <a:lstStyle/>
          <a:p>
            <a:r>
              <a:rPr lang="en-US" sz="2400" dirty="0"/>
              <a:t>Consider the configuration displayed in figure (b) which uses low-order interleaving. 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upper chip is enabled </a:t>
            </a:r>
            <a:r>
              <a:rPr lang="en-US" sz="2400" dirty="0"/>
              <a:t>when </a:t>
            </a:r>
            <a:r>
              <a:rPr lang="en-US" sz="2400" b="1" dirty="0"/>
              <a:t>A</a:t>
            </a:r>
            <a:r>
              <a:rPr lang="en-US" sz="2400" b="1" baseline="-25000" dirty="0"/>
              <a:t>0</a:t>
            </a:r>
            <a:r>
              <a:rPr lang="en-US" sz="2400" b="1" dirty="0"/>
              <a:t>=0, </a:t>
            </a:r>
            <a:r>
              <a:rPr lang="en-US" sz="2400" dirty="0"/>
              <a:t>or by addresses XXX0, in this case, </a:t>
            </a:r>
            <a:r>
              <a:rPr lang="en-US" sz="2400" b="1" dirty="0"/>
              <a:t>0, 2, 4, 6, 8, 10,12, and 14. 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lower chip is enabled </a:t>
            </a:r>
            <a:r>
              <a:rPr lang="en-US" sz="2400" dirty="0"/>
              <a:t>when </a:t>
            </a:r>
            <a:r>
              <a:rPr lang="en-US" sz="2400" b="1" dirty="0"/>
              <a:t>A</a:t>
            </a:r>
            <a:r>
              <a:rPr lang="en-US" sz="2400" b="1" baseline="-25000" dirty="0"/>
              <a:t>0</a:t>
            </a:r>
            <a:r>
              <a:rPr lang="en-US" sz="2400" b="1" dirty="0"/>
              <a:t>=1, </a:t>
            </a:r>
            <a:r>
              <a:rPr lang="en-US" sz="2400" dirty="0"/>
              <a:t>which is correct for addresses </a:t>
            </a:r>
            <a:r>
              <a:rPr lang="en-US" sz="2400" b="1" dirty="0"/>
              <a:t>1, 3, 5, 7, 9, 11, 13, and 15.</a:t>
            </a:r>
          </a:p>
          <a:p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9D2BA-0AF1-4D4A-8143-0A442F65C0FC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9035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D44E0-C344-474D-8CD9-59658BBD8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b="1" dirty="0">
                <a:solidFill>
                  <a:srgbClr val="FF0000"/>
                </a:solidFill>
              </a:rPr>
              <a:t>Classwork: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76D59-079A-4129-98CA-6698C0BF6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1. Design a 16x4 memory subsystem with low order interleaving using 8x2 memory chips for a computer system with an 8-bit address bus.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13894-F37D-4112-A341-33B8EAFA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9C9C-0746-4D89-A672-0EDAE09502B8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D9BB-76FF-4338-BCD8-92B2A00A2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CDC51-5485-4237-BFCE-257BC832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157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D44E0-C344-474D-8CD9-59658BBD8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b="1" dirty="0">
                <a:solidFill>
                  <a:srgbClr val="FF0000"/>
                </a:solidFill>
              </a:rPr>
              <a:t>Classwork: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13894-F37D-4112-A341-33B8EAFA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9C9C-0746-4D89-A672-0EDAE09502B8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D9BB-76FF-4338-BCD8-92B2A00A2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CDC51-5485-4237-BFCE-257BC832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7" name="image107.png">
            <a:extLst>
              <a:ext uri="{FF2B5EF4-FFF2-40B4-BE49-F238E27FC236}">
                <a16:creationId xmlns:a16="http://schemas.microsoft.com/office/drawing/2014/main" id="{6B99F7B7-8764-4A9B-A44B-320DEF006D6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514" y="438150"/>
            <a:ext cx="4622285" cy="432911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8CB599-D15D-424B-BF16-4CEF9F8B8209}"/>
              </a:ext>
            </a:extLst>
          </p:cNvPr>
          <p:cNvSpPr/>
          <p:nvPr/>
        </p:nvSpPr>
        <p:spPr>
          <a:xfrm>
            <a:off x="457200" y="1276350"/>
            <a:ext cx="307391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Design a 16x4 memory subsystem with low order interleaving using 8x2 memory chips for a computer system with an 8-bit address bus.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CC29E2-F455-4E19-8ACC-7779B392C9A9}"/>
              </a:ext>
            </a:extLst>
          </p:cNvPr>
          <p:cNvSpPr/>
          <p:nvPr/>
        </p:nvSpPr>
        <p:spPr>
          <a:xfrm>
            <a:off x="3962400" y="4344590"/>
            <a:ext cx="1853943" cy="422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475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01A3-0FB2-43E4-A1C4-59E2BB205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just"/>
            <a:r>
              <a:rPr lang="en-US" sz="2400" b="1" dirty="0">
                <a:solidFill>
                  <a:srgbClr val="FF0000"/>
                </a:solidFill>
              </a:rPr>
              <a:t>2. Design a 32x 8 memory subsystem with high-order interleaving using 16x2 memory chips for a computer system with an 8-bit address bus.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D46EA-3AC0-4130-9034-90D9C27E5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A1D70-D5BF-4BA8-B587-4598535F0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9C9C-0746-4D89-A672-0EDAE09502B8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AB73B-7CBB-4E58-BF39-62608055A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EEE17-A02A-42D8-B722-EF462E1F4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60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01A3-0FB2-43E4-A1C4-59E2BB205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just"/>
            <a:r>
              <a:rPr lang="en-US" sz="2400" b="1" dirty="0">
                <a:solidFill>
                  <a:srgbClr val="FF0000"/>
                </a:solidFill>
              </a:rPr>
              <a:t>Design a 32x 8 memory subsystem with high-order interleaving using 16x2 memory chips for a computer system with an 8-bit address bus.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A1D70-D5BF-4BA8-B587-4598535F0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9C9C-0746-4D89-A672-0EDAE09502B8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AB73B-7CBB-4E58-BF39-62608055A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EEE17-A02A-42D8-B722-EF462E1F4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7" name="image106.png">
            <a:extLst>
              <a:ext uri="{FF2B5EF4-FFF2-40B4-BE49-F238E27FC236}">
                <a16:creationId xmlns:a16="http://schemas.microsoft.com/office/drawing/2014/main" id="{EB73E723-A105-4927-B79A-5E04F662D37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063230"/>
            <a:ext cx="6096000" cy="37040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37941C4-2822-43A0-BB13-C7BA2E52E51D}"/>
              </a:ext>
            </a:extLst>
          </p:cNvPr>
          <p:cNvSpPr/>
          <p:nvPr/>
        </p:nvSpPr>
        <p:spPr>
          <a:xfrm>
            <a:off x="1828800" y="4397880"/>
            <a:ext cx="1524000" cy="422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662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D44E0-C344-474D-8CD9-59658BBD8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76D59-079A-4129-98CA-6698C0BF6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3. Design a 32x8 memory subsystem with low order interleaving using 16x2 memory chips for a computer system with an 8-bit address bus.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13894-F37D-4112-A341-33B8EAFA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9C9C-0746-4D89-A672-0EDAE09502B8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D9BB-76FF-4338-BCD8-92B2A00A2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CDC51-5485-4237-BFCE-257BC832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63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D44E0-C344-474D-8CD9-59658BBD8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13894-F37D-4112-A341-33B8EAFA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9C9C-0746-4D89-A672-0EDAE09502B8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D9BB-76FF-4338-BCD8-92B2A00A2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CDC51-5485-4237-BFCE-257BC832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7" name="image108.png">
            <a:extLst>
              <a:ext uri="{FF2B5EF4-FFF2-40B4-BE49-F238E27FC236}">
                <a16:creationId xmlns:a16="http://schemas.microsoft.com/office/drawing/2014/main" id="{58A1E316-38DC-402B-B4F0-1B0B926DB64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063229"/>
            <a:ext cx="5103289" cy="33940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7C4E0BF-C087-48E1-AA63-AEDE3B6B5877}"/>
              </a:ext>
            </a:extLst>
          </p:cNvPr>
          <p:cNvSpPr/>
          <p:nvPr/>
        </p:nvSpPr>
        <p:spPr>
          <a:xfrm>
            <a:off x="2438400" y="4080271"/>
            <a:ext cx="1524000" cy="422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512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2EB5-A236-486D-8788-00F300A29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8419F-7AE0-43A7-A52A-95BA40FED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85750"/>
            <a:ext cx="1981200" cy="4308873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2. Design a 32x8 memory subsystem with low order interleaving using 16x2 memory chips for a computer system with an 8-bit address bus.</a:t>
            </a:r>
            <a:endParaRPr lang="en-US" sz="2000" dirty="0">
              <a:solidFill>
                <a:srgbClr val="FF0000"/>
              </a:solidFill>
            </a:endParaRPr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B3445-FBDF-4B28-9EC4-DBD42DE2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9C9C-0746-4D89-A672-0EDAE09502B8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B74F2-A286-4669-9BB8-55B8369FB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FB89E-6B96-412C-AA52-4580E549D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7" name="image108.png">
            <a:extLst>
              <a:ext uri="{FF2B5EF4-FFF2-40B4-BE49-F238E27FC236}">
                <a16:creationId xmlns:a16="http://schemas.microsoft.com/office/drawing/2014/main" id="{D236D187-32EB-428F-8B50-B16DD2D3E139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649368"/>
            <a:ext cx="6447790" cy="394525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088956C-4419-4378-B3FC-6653F55B3838}"/>
              </a:ext>
            </a:extLst>
          </p:cNvPr>
          <p:cNvSpPr/>
          <p:nvPr/>
        </p:nvSpPr>
        <p:spPr>
          <a:xfrm>
            <a:off x="2438400" y="4171950"/>
            <a:ext cx="1524000" cy="422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192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6. I/O subsystem Organization and Interfacing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1"/>
            <a:ext cx="3759799" cy="3657600"/>
          </a:xfrm>
          <a:solidFill>
            <a:schemeClr val="bg2">
              <a:lumMod val="90000"/>
            </a:schemeClr>
          </a:solidFill>
        </p:spPr>
        <p:txBody>
          <a:bodyPr>
            <a:normAutofit fontScale="62500" lnSpcReduction="20000"/>
          </a:bodyPr>
          <a:lstStyle/>
          <a:p>
            <a:r>
              <a:rPr lang="en-US" dirty="0"/>
              <a:t>The I/O subsystem is treated as an independent unit in the computer. </a:t>
            </a:r>
          </a:p>
          <a:p>
            <a:r>
              <a:rPr lang="en-US" dirty="0"/>
              <a:t>The CPU initiates I/O command generally as Read, Write, Scan, etc.</a:t>
            </a:r>
          </a:p>
          <a:p>
            <a:r>
              <a:rPr lang="en-US" dirty="0"/>
              <a:t>As shown in figure: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I/O device </a:t>
            </a:r>
            <a:r>
              <a:rPr lang="en-US" dirty="0"/>
              <a:t>is </a:t>
            </a:r>
            <a:r>
              <a:rPr lang="en-US" b="1" dirty="0"/>
              <a:t>connected to</a:t>
            </a:r>
            <a:r>
              <a:rPr lang="en-US" dirty="0"/>
              <a:t> the computer system </a:t>
            </a:r>
            <a:r>
              <a:rPr lang="en-US" b="1" dirty="0"/>
              <a:t>address, data and control buses</a:t>
            </a:r>
            <a:r>
              <a:rPr lang="en-US" dirty="0"/>
              <a:t>. </a:t>
            </a:r>
          </a:p>
          <a:p>
            <a:pPr lvl="1"/>
            <a:r>
              <a:rPr lang="en-US" b="1" dirty="0"/>
              <a:t>Each I/O device includes I/O circuitry </a:t>
            </a:r>
            <a:r>
              <a:rPr lang="en-US" dirty="0"/>
              <a:t>that interacts with the buses.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91AE-CCA1-4504-9F32-C81F0D84FCDE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A3638D-4488-4E91-8B7E-6C7826C0FA9F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brightnessContrast brigh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834" y="926306"/>
            <a:ext cx="4199965" cy="278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791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Input device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42950"/>
                <a:ext cx="4343400" cy="3851673"/>
              </a:xfr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>
                <a:normAutofit fontScale="55000" lnSpcReduction="20000"/>
              </a:bodyPr>
              <a:lstStyle/>
              <a:p>
                <a:pPr lvl="0"/>
                <a:r>
                  <a:rPr lang="en-US" dirty="0"/>
                  <a:t>The data from the input device goes to the tri-state buffer. </a:t>
                </a:r>
              </a:p>
              <a:p>
                <a:pPr lvl="0"/>
                <a:r>
                  <a:rPr lang="en-US" b="1" dirty="0"/>
                  <a:t>When</a:t>
                </a:r>
                <a:r>
                  <a:rPr lang="en-US" dirty="0"/>
                  <a:t> the values on the </a:t>
                </a:r>
                <a:r>
                  <a:rPr lang="en-US" b="1" dirty="0"/>
                  <a:t>address bus and control bus are correct,</a:t>
                </a:r>
                <a:r>
                  <a:rPr lang="en-US" dirty="0"/>
                  <a:t> the </a:t>
                </a:r>
                <a:r>
                  <a:rPr lang="en-US" b="1" dirty="0"/>
                  <a:t>buffers are enabled and data passes onto the data bus. </a:t>
                </a:r>
              </a:p>
              <a:p>
                <a:pPr lvl="0"/>
                <a:r>
                  <a:rPr lang="en-US" dirty="0"/>
                  <a:t>The CPU, then can read these data. </a:t>
                </a:r>
              </a:p>
              <a:p>
                <a:pPr lvl="0"/>
                <a:r>
                  <a:rPr lang="en-US" dirty="0"/>
                  <a:t>The key to this design is the enable logic. </a:t>
                </a:r>
              </a:p>
              <a:p>
                <a:pPr lvl="0"/>
                <a:r>
                  <a:rPr lang="en-US" dirty="0"/>
                  <a:t>For the input device, the read signal (RD) should be asserted.</a:t>
                </a:r>
              </a:p>
              <a:p>
                <a:pPr lvl="0"/>
                <a:r>
                  <a:rPr lang="en-US" dirty="0"/>
                  <a:t>Figure (b) shows the enable logic for an input device at address 11110000 with 8-bit address and control signals RD and IO/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r>
                  <a:rPr lang="en-US" dirty="0"/>
                  <a:t> (IO/Memory).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42950"/>
                <a:ext cx="4343400" cy="3851673"/>
              </a:xfrm>
              <a:blipFill>
                <a:blip r:embed="rId2"/>
                <a:stretch>
                  <a:fillRect l="-842" t="-2215" r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B4763-9EB4-4FAF-8308-94563437ED83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B43310-50B3-4ABA-BA68-FD6E94A9A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816536"/>
            <a:ext cx="4106686" cy="213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0985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Output Device: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505200" cy="385167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lvl="0"/>
            <a:r>
              <a:rPr lang="en-US" sz="1400" dirty="0"/>
              <a:t>For the interface circuit for an output device, the tri-state buffer is replaced by a register. </a:t>
            </a:r>
          </a:p>
          <a:p>
            <a:pPr lvl="0"/>
            <a:r>
              <a:rPr lang="en-US" sz="1400" b="1" dirty="0"/>
              <a:t>Only the device with the correct address will read it in.</a:t>
            </a:r>
          </a:p>
          <a:p>
            <a:pPr lvl="0"/>
            <a:r>
              <a:rPr lang="en-US" sz="1400" dirty="0"/>
              <a:t>The Load logic (LD) plays the role of the enable logic as in the input device.</a:t>
            </a:r>
          </a:p>
          <a:p>
            <a:pPr lvl="0"/>
            <a:r>
              <a:rPr lang="en-US" sz="1400" b="1" dirty="0"/>
              <a:t>When</a:t>
            </a:r>
            <a:r>
              <a:rPr lang="en-US" sz="1400" dirty="0"/>
              <a:t> this </a:t>
            </a:r>
            <a:r>
              <a:rPr lang="en-US" sz="1400" b="1" dirty="0"/>
              <a:t>logic receives the correct address and control signals</a:t>
            </a:r>
            <a:r>
              <a:rPr lang="en-US" sz="1400" dirty="0"/>
              <a:t>, it </a:t>
            </a:r>
            <a:r>
              <a:rPr lang="en-US" sz="1400" b="1" dirty="0"/>
              <a:t>asserts the LD signa</a:t>
            </a:r>
            <a:r>
              <a:rPr lang="en-US" sz="1400" dirty="0"/>
              <a:t>l of the register, causing it to </a:t>
            </a:r>
            <a:r>
              <a:rPr lang="en-US" sz="1400" b="1" dirty="0"/>
              <a:t>read data from the system’s data bus</a:t>
            </a:r>
            <a:r>
              <a:rPr lang="en-US" sz="1400" dirty="0"/>
              <a:t>.</a:t>
            </a:r>
          </a:p>
          <a:p>
            <a:pPr lvl="0"/>
            <a:r>
              <a:rPr lang="en-US" sz="1400" b="1" dirty="0"/>
              <a:t>The output device can then read the data from the register </a:t>
            </a:r>
            <a:r>
              <a:rPr lang="en-US" sz="1400" dirty="0"/>
              <a:t>at its leisure while the CPU performs other tasks.</a:t>
            </a:r>
          </a:p>
          <a:p>
            <a:pPr lvl="0"/>
            <a:r>
              <a:rPr lang="en-US" sz="1400" dirty="0"/>
              <a:t>The logic to generate the load signal for an output device at address 1111 0000 is shown in figure (b).</a:t>
            </a:r>
          </a:p>
          <a:p>
            <a:endParaRPr lang="en-US" sz="1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A7DC7-757B-4B97-9BBC-69F506CCB796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1F7C7A-CDF9-43C7-9CB7-C7A0C8372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184" y="860083"/>
            <a:ext cx="4395234" cy="212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285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Bidirectional IO device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810000" cy="385167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1600" dirty="0"/>
              <a:t>Some devices are used for both input and output. A personal computer’s hard disk drive falls into this category.</a:t>
            </a:r>
          </a:p>
          <a:p>
            <a:r>
              <a:rPr lang="en-US" sz="1600" dirty="0"/>
              <a:t>Such a device requires a combined interface that is essentially two interfaces, one for input and the other for output.</a:t>
            </a:r>
          </a:p>
          <a:p>
            <a:r>
              <a:rPr lang="en-US" sz="1600" dirty="0"/>
              <a:t>Some logic elements, such as the gates that check the address and the address bus, can be used to generate both the buffer enable and register load signals.</a:t>
            </a:r>
          </a:p>
          <a:p>
            <a:r>
              <a:rPr lang="en-US" sz="1600" dirty="0"/>
              <a:t>Figure below shows a combined I/O interface for address 1111 0000.</a:t>
            </a:r>
          </a:p>
          <a:p>
            <a:endParaRPr lang="en-US" sz="11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8F68-24CB-41D9-B0DF-60ECE0D5D4EE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34E7EA-5DF6-4D2D-9E8A-0B1EB030C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00" y="748622"/>
            <a:ext cx="4515050" cy="228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6185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000" b="1" dirty="0">
                <a:solidFill>
                  <a:srgbClr val="FF0000"/>
                </a:solidFill>
              </a:rPr>
              <a:t>1. Design an interface for an input device which has binary address 1010 1010. Its computer system uses isolated I/0.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DCD7-6A89-4FCD-A0B9-451648F3D722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image110.png">
            <a:extLst>
              <a:ext uri="{FF2B5EF4-FFF2-40B4-BE49-F238E27FC236}">
                <a16:creationId xmlns:a16="http://schemas.microsoft.com/office/drawing/2014/main" id="{6FEE7AF6-9B6B-4C89-B8EF-29B46F64D3A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" y="839390"/>
            <a:ext cx="7772400" cy="310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61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000" b="1" dirty="0">
                <a:solidFill>
                  <a:srgbClr val="FF0000"/>
                </a:solidFill>
              </a:rPr>
              <a:t>2. Design an interface for an input device which has binary address 1010 1010. Its computer system uses memory mapped I/O.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DCD7-6A89-4FCD-A0B9-451648F3D722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image111.png">
            <a:extLst>
              <a:ext uri="{FF2B5EF4-FFF2-40B4-BE49-F238E27FC236}">
                <a16:creationId xmlns:a16="http://schemas.microsoft.com/office/drawing/2014/main" id="{D5C3A378-1FC9-49DE-BCB8-E3E3FD60AD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" y="1144270"/>
            <a:ext cx="7589520" cy="279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01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marL="0" indent="0" algn="l"/>
            <a:r>
              <a:rPr lang="en-US" sz="2000" b="1" dirty="0">
                <a:solidFill>
                  <a:srgbClr val="FF0000"/>
                </a:solidFill>
              </a:rPr>
              <a:t>3. Design an interface for an output device which has binary address 0011 1001. Its computer system uses isolate I/O.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DCD7-6A89-4FCD-A0B9-451648F3D722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image112.png">
            <a:extLst>
              <a:ext uri="{FF2B5EF4-FFF2-40B4-BE49-F238E27FC236}">
                <a16:creationId xmlns:a16="http://schemas.microsoft.com/office/drawing/2014/main" id="{96DED5FC-E56E-4A08-AB3F-3BCE63C4A51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75" y="1581150"/>
            <a:ext cx="677862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34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000" b="1" dirty="0">
                <a:solidFill>
                  <a:srgbClr val="FF0000"/>
                </a:solidFill>
              </a:rPr>
              <a:t>4. Design an interface for an output device which has binary address 0011 1001. Its computer system uses memory mapped I/O.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DCD7-6A89-4FCD-A0B9-451648F3D722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image113.png">
            <a:extLst>
              <a:ext uri="{FF2B5EF4-FFF2-40B4-BE49-F238E27FC236}">
                <a16:creationId xmlns:a16="http://schemas.microsoft.com/office/drawing/2014/main" id="{EC43BCEF-0690-4A00-83A1-3F95157888D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044456"/>
            <a:ext cx="7239000" cy="267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06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10703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5. Design an interface for a bidirectional Input/output device that has binary address 1000 0001. Its computer system uses Isolated I/O.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4950"/>
            <a:ext cx="8229600" cy="3089673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DCD7-6A89-4FCD-A0B9-451648F3D722}" type="datetime1">
              <a:rPr lang="en-US" smtClean="0">
                <a:solidFill>
                  <a:srgbClr val="00B050"/>
                </a:solidFill>
              </a:rPr>
              <a:t>6/5/2023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Computer Organization, COA_BESE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image114.png">
            <a:extLst>
              <a:ext uri="{FF2B5EF4-FFF2-40B4-BE49-F238E27FC236}">
                <a16:creationId xmlns:a16="http://schemas.microsoft.com/office/drawing/2014/main" id="{F4CC6E29-A3DD-42DA-BFA2-AFBCA083C94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04950"/>
            <a:ext cx="72390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98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1951"/>
            <a:ext cx="8229600" cy="685800"/>
          </a:xfrm>
        </p:spPr>
        <p:txBody>
          <a:bodyPr>
            <a:noAutofit/>
          </a:bodyPr>
          <a:lstStyle/>
          <a:p>
            <a:pPr marL="228600" indent="-228600" algn="just">
              <a:tabLst>
                <a:tab pos="463550" algn="l"/>
              </a:tabLst>
            </a:pPr>
            <a:r>
              <a:rPr 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6. A CPU with 8-bit data bus and 8-bit address bus uses memory mapped I/O. It has 32 byte of ROM at 00H and 32 byte of ROM at 20H. It also has an I/O device at FFH. Show the load logic and enable logic.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6290E-22F6-4A65-AAB3-4EED88999754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931B958-81DA-4D7D-8283-DB34B3D74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063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1951"/>
            <a:ext cx="8229600" cy="685800"/>
          </a:xfrm>
        </p:spPr>
        <p:txBody>
          <a:bodyPr>
            <a:noAutofit/>
          </a:bodyPr>
          <a:lstStyle/>
          <a:p>
            <a:pPr marL="228600" indent="-228600" algn="just">
              <a:tabLst>
                <a:tab pos="463550" algn="l"/>
              </a:tabLst>
            </a:pPr>
            <a:r>
              <a:rPr 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6. A CPU with 8-bit data bus and 8-bit address bus uses memory mapped I/O. It has 32 byte of ROM at 00H and 32 byte of ROM at 20H. It also has an I/O device at FFH. Show the load logic and enable logic.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6290E-22F6-4A65-AAB3-4EED88999754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F9808671-E48B-44D2-9FC2-B27ED1128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186625"/>
            <a:ext cx="5638800" cy="3580638"/>
          </a:xfrm>
        </p:spPr>
      </p:pic>
    </p:spTree>
    <p:extLst>
      <p:ext uri="{BB962C8B-B14F-4D97-AF65-F5344CB8AC3E}">
        <p14:creationId xmlns:p14="http://schemas.microsoft.com/office/powerpoint/2010/main" val="38329718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1950"/>
            <a:ext cx="8229600" cy="914399"/>
          </a:xfrm>
        </p:spPr>
        <p:txBody>
          <a:bodyPr>
            <a:noAutofit/>
          </a:bodyPr>
          <a:lstStyle/>
          <a:p>
            <a:pPr marL="228600" indent="-228600" algn="just">
              <a:tabLst>
                <a:tab pos="463550" algn="l"/>
              </a:tabLst>
            </a:pPr>
            <a:r>
              <a:rPr 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7. A computer system with an 8-bit address and an 8-bit data bus using isolated I/O. It has 16 x 8 ROM starting at address 00H constructed using 8 x8 chips; 64 x 8 of RAM starting at address 80H constructed using 64 x 4 chips. There is an I/O device at 40H. Show the design for the system.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6290E-22F6-4A65-AAB3-4EED88999754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F6AC9CC-0229-429C-93EC-6EC882298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23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1950"/>
            <a:ext cx="8229600" cy="914399"/>
          </a:xfrm>
        </p:spPr>
        <p:txBody>
          <a:bodyPr>
            <a:noAutofit/>
          </a:bodyPr>
          <a:lstStyle/>
          <a:p>
            <a:pPr marL="228600" indent="-228600" algn="just">
              <a:tabLst>
                <a:tab pos="463550" algn="l"/>
              </a:tabLst>
            </a:pPr>
            <a:r>
              <a:rPr 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7. A computer system with an 8-bit address and an 8-bit data bus using isolated I/O. It has 16 x 8 ROM starting at address 00H constructed using 8 x8 chips; 64 x 8 of RAM starting at address 80H constructed using 64 x 4 chips. There is an I/O device at 40H. Show the design for the system.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6290E-22F6-4A65-AAB3-4EED88999754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540D9375-90BB-4EAB-914E-030397BAB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504950"/>
            <a:ext cx="5570460" cy="2711449"/>
          </a:xfrm>
        </p:spPr>
      </p:pic>
    </p:spTree>
    <p:extLst>
      <p:ext uri="{BB962C8B-B14F-4D97-AF65-F5344CB8AC3E}">
        <p14:creationId xmlns:p14="http://schemas.microsoft.com/office/powerpoint/2010/main" val="26864995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1950"/>
            <a:ext cx="8229600" cy="914399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6290E-22F6-4A65-AAB3-4EED88999754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FB5A3F29-5C1E-4494-8D75-73B51ACFA6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586" y="723399"/>
            <a:ext cx="5172154" cy="3677151"/>
          </a:xfrm>
        </p:spPr>
      </p:pic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A6446D28-84E3-4EED-AA12-B0B8305AE9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" y="285750"/>
            <a:ext cx="3535350" cy="172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9158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994171"/>
          </a:xfrm>
        </p:spPr>
        <p:txBody>
          <a:bodyPr>
            <a:noAutofit/>
          </a:bodyPr>
          <a:lstStyle/>
          <a:p>
            <a:pPr marL="174625" indent="-174625" algn="just">
              <a:tabLst>
                <a:tab pos="463550" algn="l"/>
              </a:tabLst>
            </a:pPr>
            <a:r>
              <a:rPr lang="en-US" sz="1400" b="1" dirty="0">
                <a:solidFill>
                  <a:srgbClr val="FF0000"/>
                </a:solidFill>
              </a:rPr>
              <a:t>8. A computer system with 8-bit data bus and 8-bit control bus uses isolated I/O. It has 64 bytes of ROM starting at 00H constructed using 64 x 4 chips; 128 bytes of RAM, starting at address 40H constructed using 32 x 8 chips; an input device with READY signal at address 40H; and an output with no READY signal at address 80H. Show the design for this system. Include all enable and load logic.</a:t>
            </a:r>
            <a:br>
              <a:rPr lang="en-US" sz="1400" dirty="0">
                <a:solidFill>
                  <a:srgbClr val="FF0000"/>
                </a:solidFill>
              </a:rPr>
            </a:b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6290E-22F6-4A65-AAB3-4EED88999754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</p:spTree>
    <p:extLst>
      <p:ext uri="{BB962C8B-B14F-4D97-AF65-F5344CB8AC3E}">
        <p14:creationId xmlns:p14="http://schemas.microsoft.com/office/powerpoint/2010/main" val="5984074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994171"/>
          </a:xfrm>
        </p:spPr>
        <p:txBody>
          <a:bodyPr>
            <a:noAutofit/>
          </a:bodyPr>
          <a:lstStyle/>
          <a:p>
            <a:pPr marL="174625" indent="-174625" algn="just">
              <a:tabLst>
                <a:tab pos="463550" algn="l"/>
              </a:tabLst>
            </a:pPr>
            <a:r>
              <a:rPr lang="en-US" sz="1400" b="1" dirty="0">
                <a:solidFill>
                  <a:srgbClr val="FF0000"/>
                </a:solidFill>
              </a:rPr>
              <a:t>8. A computer system with 8-bit data bus and 8-bit control bus uses isolated I/O. It has 64 bytes of ROM starting at 00H constructed using 64 x 4 chips; 128 bytes of RAM, starting at address 40H constructed using 32 x 8 chips; an input device with READY signal at address 40H; and an output with no READY signal at address 80H. Show the design for this system. Include all enable and load logic.</a:t>
            </a:r>
            <a:br>
              <a:rPr lang="en-US" sz="1400" dirty="0">
                <a:solidFill>
                  <a:srgbClr val="FF0000"/>
                </a:solidFill>
              </a:rPr>
            </a:b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6290E-22F6-4A65-AAB3-4EED88999754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B93C0C-41F7-4971-AE66-F04D38D4C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00150"/>
            <a:ext cx="7310438" cy="361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567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994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1200" b="1" dirty="0"/>
              <a:t>A computer system with 8-bit data bus and 8-bit control bus uses isolated I/O. It has 64 bytes of ROM starting at 00H constructed using 64 x 4 chips; 128 bytes of RAM, starting at address 40H constructed using 32 x 8 chips; an input device with READY signal at address 40H; and an output with no READY signal at address 80H. Show the design for this system. Include all enable and load logic.</a:t>
            </a:r>
            <a:br>
              <a:rPr lang="en-US" sz="1200" dirty="0"/>
            </a:br>
            <a:endParaRPr lang="en-US" sz="1050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0EDD69D-6612-46C2-9D64-921EB495FD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0760" y="1504950"/>
            <a:ext cx="4114800" cy="27449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6290E-22F6-4A65-AAB3-4EED88999754}" type="datetime1">
              <a:rPr lang="en-US" sz="1100" smtClean="0"/>
              <a:t>6/5/2023</a:t>
            </a:fld>
            <a:endParaRPr lang="en-US" sz="11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100" smtClean="0"/>
              <a:pPr/>
              <a:t>50</a:t>
            </a:fld>
            <a:endParaRPr lang="en-US" sz="11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100"/>
              <a:t>Computer Organization, COA_BESE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0DB3D9-FCD2-4377-AF21-B941FDB6F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784268"/>
            <a:ext cx="4419600" cy="21863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7BC3BE5-5BE7-4462-8BFC-52507232AA52}"/>
              </a:ext>
            </a:extLst>
          </p:cNvPr>
          <p:cNvSpPr/>
          <p:nvPr/>
        </p:nvSpPr>
        <p:spPr>
          <a:xfrm>
            <a:off x="5953760" y="1962150"/>
            <a:ext cx="1437640" cy="148976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EFAC4-1357-47A7-BBCB-8F3D92AF1612}"/>
              </a:ext>
            </a:extLst>
          </p:cNvPr>
          <p:cNvSpPr txBox="1"/>
          <p:nvPr/>
        </p:nvSpPr>
        <p:spPr>
          <a:xfrm>
            <a:off x="8144577" y="1539160"/>
            <a:ext cx="780983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/>
              <a:t>Decimal Value</a:t>
            </a:r>
          </a:p>
        </p:txBody>
      </p:sp>
    </p:spTree>
    <p:extLst>
      <p:ext uri="{BB962C8B-B14F-4D97-AF65-F5344CB8AC3E}">
        <p14:creationId xmlns:p14="http://schemas.microsoft.com/office/powerpoint/2010/main" val="394211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9941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6290E-22F6-4A65-AAB3-4EED88999754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pic>
        <p:nvPicPr>
          <p:cNvPr id="8" name="image116.png">
            <a:extLst>
              <a:ext uri="{FF2B5EF4-FFF2-40B4-BE49-F238E27FC236}">
                <a16:creationId xmlns:a16="http://schemas.microsoft.com/office/drawing/2014/main" id="{83E2737A-6AAF-48EE-ADCD-32FAD169F05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5799" y="208831"/>
            <a:ext cx="4030345" cy="4869466"/>
          </a:xfrm>
          <a:prstGeom prst="rect">
            <a:avLst/>
          </a:prstGeom>
        </p:spPr>
      </p:pic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F122A7F8-4109-455B-A253-AEE5911F8A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8600" y="1047750"/>
            <a:ext cx="3903799" cy="26041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1F448F-703D-4FCF-BE03-A1146A4EBA6B}"/>
              </a:ext>
            </a:extLst>
          </p:cNvPr>
          <p:cNvSpPr txBox="1"/>
          <p:nvPr/>
        </p:nvSpPr>
        <p:spPr>
          <a:xfrm>
            <a:off x="8610600" y="1428750"/>
            <a:ext cx="645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</a:rPr>
              <a:t>40H=</a:t>
            </a:r>
          </a:p>
          <a:p>
            <a:r>
              <a:rPr lang="en-US" sz="700" dirty="0">
                <a:solidFill>
                  <a:srgbClr val="FF0000"/>
                </a:solidFill>
              </a:rPr>
              <a:t>0100 0000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5B6812-064A-474A-9F29-DBBE7368BC91}"/>
              </a:ext>
            </a:extLst>
          </p:cNvPr>
          <p:cNvSpPr txBox="1"/>
          <p:nvPr/>
        </p:nvSpPr>
        <p:spPr>
          <a:xfrm>
            <a:off x="8610600" y="2792665"/>
            <a:ext cx="618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</a:rPr>
              <a:t>80H=</a:t>
            </a:r>
          </a:p>
          <a:p>
            <a:r>
              <a:rPr lang="en-US" sz="700" dirty="0">
                <a:solidFill>
                  <a:srgbClr val="FF0000"/>
                </a:solidFill>
              </a:rPr>
              <a:t>1000 0000</a:t>
            </a:r>
          </a:p>
        </p:txBody>
      </p:sp>
    </p:spTree>
    <p:extLst>
      <p:ext uri="{BB962C8B-B14F-4D97-AF65-F5344CB8AC3E}">
        <p14:creationId xmlns:p14="http://schemas.microsoft.com/office/powerpoint/2010/main" val="23931842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A8DC2-1066-455A-95D0-6BC7BFF94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1E2F970-0120-48A2-BE00-5593611D7B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99" y="3168225"/>
            <a:ext cx="5305425" cy="148657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90A56-E2AD-42E1-BE0F-F87FF4B3A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9C9C-0746-4D89-A672-0EDAE09502B8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3A553-6453-4FF6-86A5-D07AF9E55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F9E4D-D892-4A9B-AB7A-F5292C7CF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46180A-4BEF-4F10-B56C-437E1EE26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" y="285750"/>
            <a:ext cx="5305425" cy="288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9488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6290E-22F6-4A65-AAB3-4EED88999754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61CC93D-1FC4-4525-8CF0-088D252D7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46510"/>
            <a:ext cx="8229600" cy="3948113"/>
          </a:xfrm>
        </p:spPr>
        <p:txBody>
          <a:bodyPr>
            <a:normAutofit fontScale="77500" lnSpcReduction="20000"/>
          </a:bodyPr>
          <a:lstStyle/>
          <a:p>
            <a:pPr marL="457200" lvl="3" indent="-457200">
              <a:buFont typeface="+mj-lt"/>
              <a:buAutoNum type="arabicPeriod"/>
            </a:pPr>
            <a:r>
              <a:rPr lang="en-US" sz="1800" b="1" dirty="0"/>
              <a:t>Differentiate between Internal Linear and Two-dimensional Memory Organization.</a:t>
            </a:r>
          </a:p>
          <a:p>
            <a:pPr marL="457200" lvl="3" indent="-457200">
              <a:buFont typeface="+mj-lt"/>
              <a:buAutoNum type="arabicPeriod"/>
            </a:pPr>
            <a:r>
              <a:rPr lang="en-US" sz="1800" b="1" dirty="0"/>
              <a:t>Explain instruction cycle for read and write operations using their timing diagram.</a:t>
            </a:r>
          </a:p>
          <a:p>
            <a:pPr marL="457200" lvl="3" indent="-457200">
              <a:buFont typeface="+mj-lt"/>
              <a:buAutoNum type="arabicPeriod"/>
            </a:pPr>
            <a:r>
              <a:rPr lang="en-US" sz="1800" b="1" dirty="0"/>
              <a:t>A computer has a CPU with 8 bit data bus and 8 bit address bus. The system operates in isolated I/O mode. It has a 64 byte ROM at 00H constructed using two 32-byte ROM. It also has a RAM of 128 byte constructed using two 128*4 RAM chips and is integrated with starting address 80H. The system also has an I/O device at 7EH. Show the design for this system including all the required logic.</a:t>
            </a:r>
          </a:p>
          <a:p>
            <a:pPr marL="457200" lvl="3" indent="-457200">
              <a:buFont typeface="+mj-lt"/>
              <a:buAutoNum type="arabicPeriod"/>
            </a:pPr>
            <a:r>
              <a:rPr lang="en-US" sz="1800" b="1" dirty="0"/>
              <a:t>A computer system with 8 bit address bus and an 8 bit data bus uses isolated IO. It has 64 bytes of EEPROM starting at address 00H constructed using 64x4 chips; 128 bytes of RAM starting at address 40H constructed using 32x8 chips; an input device with a READY signal at address 40H; and an output device with no READY signal at address 80H. Show the design for this system.</a:t>
            </a:r>
          </a:p>
          <a:p>
            <a:pPr marL="457200" lvl="3" indent="-457200">
              <a:buFont typeface="+mj-lt"/>
              <a:buAutoNum type="arabicPeriod"/>
            </a:pPr>
            <a:r>
              <a:rPr lang="en-US" sz="1800" b="1" dirty="0"/>
              <a:t>A computer has a CPU with 8 bit data bus and 16 bit address bus. The computer uses memory mapped I/O. it has 8K of ROM starting at address 0000H, followed by 8K of RAM. It also has a bidirectional I/O port at address 8000H. Show the design for the system including all the required logic.</a:t>
            </a:r>
          </a:p>
          <a:p>
            <a:pPr marL="457200" lvl="3" indent="-457200">
              <a:buFont typeface="+mj-lt"/>
              <a:buAutoNum type="arabicPeriod"/>
            </a:pPr>
            <a:r>
              <a:rPr lang="en-US" sz="1800" b="1" dirty="0"/>
              <a:t>Design a 16x8 ROM using 16x4 ROM chips. Illustrate it with both high –order and low order bit interleaving.</a:t>
            </a:r>
          </a:p>
          <a:p>
            <a:pPr marL="457200" lvl="3" indent="-457200">
              <a:buFont typeface="+mj-lt"/>
              <a:buAutoNum type="arabicPeriod"/>
            </a:pPr>
            <a:r>
              <a:rPr lang="en-US" sz="1800" b="1" dirty="0"/>
              <a:t>Design a 16x8 ROM using 4x8 ROM chips. Illustrate it with both high –order and low order bit </a:t>
            </a:r>
            <a:r>
              <a:rPr lang="en-US" sz="1800" b="1"/>
              <a:t>interleaving.</a:t>
            </a:r>
            <a:endParaRPr lang="en-US" sz="1800" b="1" dirty="0"/>
          </a:p>
          <a:p>
            <a:pPr marL="457200" lvl="3" indent="-457200">
              <a:buFont typeface="+mj-lt"/>
              <a:buAutoNum type="arabicPeriod"/>
            </a:pPr>
            <a:r>
              <a:rPr lang="en-US" sz="1800" b="1" dirty="0"/>
              <a:t>Design a 16x8 ROM using 4x4 ROM chips. Illustrate it with both high –order and low order bit interleaving.</a:t>
            </a:r>
          </a:p>
          <a:p>
            <a:pPr marL="457200" lvl="3" indent="-457200">
              <a:buFont typeface="+mj-lt"/>
              <a:buAutoNum type="arabicPeriod"/>
            </a:pPr>
            <a:endParaRPr lang="en-US" sz="1800" b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1DE1F0B-A61C-457C-8508-9620AF5A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4053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Assignment:</a:t>
            </a:r>
          </a:p>
        </p:txBody>
      </p:sp>
    </p:spTree>
    <p:extLst>
      <p:ext uri="{BB962C8B-B14F-4D97-AF65-F5344CB8AC3E}">
        <p14:creationId xmlns:p14="http://schemas.microsoft.com/office/powerpoint/2010/main" val="13527446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369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Exam questions: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6290E-22F6-4A65-AAB3-4EED88999754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61CC93D-1FC4-4525-8CF0-088D252D7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fontScale="92500" lnSpcReduction="20000"/>
          </a:bodyPr>
          <a:lstStyle/>
          <a:p>
            <a:pPr marL="457200" lvl="3" indent="-457200">
              <a:buFont typeface="+mj-lt"/>
              <a:buAutoNum type="arabicPeriod"/>
            </a:pPr>
            <a:r>
              <a:rPr lang="en-US" sz="1600" dirty="0"/>
              <a:t>A computer has a CPU with 8-bit address bus and 16-bit data bus. The computer uses isolated I/O. It has 64 bytes of ROM at 10 H; constructed using two 32 bytes ROM chips. It also has 32 bytes of RAM at C0 H. The system has an I/O device at 85 H. Show the design for the system including all the required logic. [ 2017 Fall] </a:t>
            </a:r>
          </a:p>
          <a:p>
            <a:pPr marL="457200" lvl="3" indent="-457200">
              <a:buFont typeface="+mj-lt"/>
              <a:buAutoNum type="arabicPeriod"/>
            </a:pPr>
            <a:r>
              <a:rPr lang="en-US" sz="1600" dirty="0"/>
              <a:t>A computer has a CPU with 8-bit address bus and 8-bit data bus. The computer uses Memory mapped I/O. It has 32 bytes of ROM at 10 H; constructed using two 16 bytes ROM chips. It also has 32 bytes of RAM at 80 H. The system has an input device at F7 H and an output device at F8 H. Show the design for the system including all the required logic. [ 2017 spring]</a:t>
            </a:r>
          </a:p>
          <a:p>
            <a:pPr marL="457200" lvl="3" indent="-457200">
              <a:buFont typeface="+mj-lt"/>
              <a:buAutoNum type="arabicPeriod"/>
            </a:pPr>
            <a:r>
              <a:rPr lang="en-US" sz="1600" dirty="0"/>
              <a:t>A computer has a CPU with 8-bit address bus and 16-bit data bus. The computer uses Isolated I/O. It has 64 x 16 of ROM at 00 H; constructed using two 32 x 16 ROM chips. It also has 32 x16 of RAM at C0 H. The system has an input device at 17 H and an output device at B5 H. Show the design for the system including all the required logic. [PU 2018 Fall] </a:t>
            </a:r>
          </a:p>
          <a:p>
            <a:pPr marL="457200" lvl="3" indent="-457200">
              <a:buFont typeface="+mj-lt"/>
              <a:buAutoNum type="arabicPeriod"/>
            </a:pPr>
            <a:r>
              <a:rPr lang="en-US" sz="1600" dirty="0"/>
              <a:t>Design an 8x4 ROM chips using 4x4 ROM chips. Illustrate using lower order interleaving. [PU 2018 Spring]</a:t>
            </a:r>
          </a:p>
          <a:p>
            <a:pPr marL="457200" lvl="3" indent="-457200">
              <a:buFont typeface="+mj-lt"/>
              <a:buAutoNum type="arabicPeriod"/>
            </a:pPr>
            <a:r>
              <a:rPr lang="en-US" sz="1600" dirty="0"/>
              <a:t>Define enable and load logic. Generate load logic for an output device at </a:t>
            </a:r>
            <a:r>
              <a:rPr lang="en-US" sz="1600" dirty="0" err="1"/>
              <a:t>CFh</a:t>
            </a:r>
            <a:r>
              <a:rPr lang="en-US" sz="1600" dirty="0"/>
              <a:t>. Assume the system being operated in isolated mode. [PU 2018 Spring] </a:t>
            </a:r>
          </a:p>
          <a:p>
            <a:pPr marL="457200" lvl="3" indent="-457200">
              <a:buFont typeface="+mj-lt"/>
              <a:buAutoNum type="arabicPeriod"/>
            </a:pPr>
            <a:r>
              <a:rPr lang="en-US" sz="1600" dirty="0"/>
              <a:t>Design a 32 B RAM using four 16x4 ROM chips. [PU 2019 Spring]</a:t>
            </a:r>
          </a:p>
          <a:p>
            <a:pPr marL="457200" lvl="3" indent="-457200">
              <a:buFont typeface="+mj-lt"/>
              <a:buAutoNum type="arabicPeriod"/>
            </a:pPr>
            <a:r>
              <a:rPr lang="en-US" sz="1600" dirty="0"/>
              <a:t>Design 16x4 memory sub-system constructed from 16x2 ROM chips with both low-level and high-level interleaving. [PU 2020 Spring]</a:t>
            </a:r>
          </a:p>
        </p:txBody>
      </p:sp>
    </p:spTree>
    <p:extLst>
      <p:ext uri="{BB962C8B-B14F-4D97-AF65-F5344CB8AC3E}">
        <p14:creationId xmlns:p14="http://schemas.microsoft.com/office/powerpoint/2010/main" val="7426465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9941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36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3600" b="1">
                <a:solidFill>
                  <a:srgbClr val="00B050"/>
                </a:solidFill>
              </a:rPr>
              <a:t>End of chapter</a:t>
            </a:r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6290E-22F6-4A65-AAB3-4EED88999754}" type="datetime1">
              <a:rPr lang="en-US" smtClean="0"/>
              <a:t>6/5/2023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Organization, COA_BESE</a:t>
            </a:r>
          </a:p>
        </p:txBody>
      </p:sp>
    </p:spTree>
    <p:extLst>
      <p:ext uri="{BB962C8B-B14F-4D97-AF65-F5344CB8AC3E}">
        <p14:creationId xmlns:p14="http://schemas.microsoft.com/office/powerpoint/2010/main" val="346476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3034</TotalTime>
  <Words>4005</Words>
  <Application>Microsoft Office PowerPoint</Application>
  <PresentationFormat>On-screen Show (16:9)</PresentationFormat>
  <Paragraphs>395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Arial</vt:lpstr>
      <vt:lpstr>Calibri</vt:lpstr>
      <vt:lpstr>Cambria Math</vt:lpstr>
      <vt:lpstr>Wingdings</vt:lpstr>
      <vt:lpstr>Office Theme</vt:lpstr>
      <vt:lpstr>Chapter 2 Computer Organization</vt:lpstr>
      <vt:lpstr>Contents:</vt:lpstr>
      <vt:lpstr>1. Basic Computer Organization</vt:lpstr>
      <vt:lpstr>Structural view of Computer System</vt:lpstr>
      <vt:lpstr>Structural view of Computer System (Contd.)</vt:lpstr>
      <vt:lpstr>Structural view of Computer System (Contd.)</vt:lpstr>
      <vt:lpstr>2. System Buses</vt:lpstr>
      <vt:lpstr>2. System Buses (Contd.)</vt:lpstr>
      <vt:lpstr>2. System Buses (Contd.)</vt:lpstr>
      <vt:lpstr>3. Instruction Cycle</vt:lpstr>
      <vt:lpstr>3. Instruction Cycle (Contd.)</vt:lpstr>
      <vt:lpstr>4. CPU organization</vt:lpstr>
      <vt:lpstr>2.4 Memory Sub-system Organization and Interfacing</vt:lpstr>
      <vt:lpstr>RAM    Vs   ROM</vt:lpstr>
      <vt:lpstr>Internal Chip Organization</vt:lpstr>
      <vt:lpstr>Linear organization</vt:lpstr>
      <vt:lpstr>Classwork:</vt:lpstr>
      <vt:lpstr>Classwork:</vt:lpstr>
      <vt:lpstr>Two-dimensional organization</vt:lpstr>
      <vt:lpstr>2.5 Memory Sub system Configuration</vt:lpstr>
      <vt:lpstr>Construction of 8 x 4 ROM from two 8 x 2 ROMs:</vt:lpstr>
      <vt:lpstr>Construction of 8 x 4 ROM from two 8 x 2 ROMs:</vt:lpstr>
      <vt:lpstr>Construction of 8 x 4 ROM from two 8 x 2 ROMs:</vt:lpstr>
      <vt:lpstr>Construction of 16 x 2 ROM from two 8 x2 ROM chip:</vt:lpstr>
      <vt:lpstr>Using high-order interleaving</vt:lpstr>
      <vt:lpstr>Using low-order interleaving</vt:lpstr>
      <vt:lpstr>Classwork:</vt:lpstr>
      <vt:lpstr>Classwork:</vt:lpstr>
      <vt:lpstr>2. Design a 32x 8 memory subsystem with high-order interleaving using 16x2 memory chips for a computer system with an 8-bit address bus.</vt:lpstr>
      <vt:lpstr>Design a 32x 8 memory subsystem with high-order interleaving using 16x2 memory chips for a computer system with an 8-bit address bus.</vt:lpstr>
      <vt:lpstr>PowerPoint Presentation</vt:lpstr>
      <vt:lpstr>PowerPoint Presentation</vt:lpstr>
      <vt:lpstr>PowerPoint Presentation</vt:lpstr>
      <vt:lpstr>6. I/O subsystem Organization and Interfacing</vt:lpstr>
      <vt:lpstr>Input device</vt:lpstr>
      <vt:lpstr>Output Device:</vt:lpstr>
      <vt:lpstr>Bidirectional IO device </vt:lpstr>
      <vt:lpstr>1. Design an interface for an input device which has binary address 1010 1010. Its computer system uses isolated I/0. </vt:lpstr>
      <vt:lpstr>2. Design an interface for an input device which has binary address 1010 1010. Its computer system uses memory mapped I/O.</vt:lpstr>
      <vt:lpstr>3. Design an interface for an output device which has binary address 0011 1001. Its computer system uses isolate I/O.</vt:lpstr>
      <vt:lpstr>4. Design an interface for an output device which has binary address 0011 1001. Its computer system uses memory mapped I/O.</vt:lpstr>
      <vt:lpstr>5. Design an interface for a bidirectional Input/output device that has binary address 1000 0001. Its computer system uses Isolated I/O.</vt:lpstr>
      <vt:lpstr>6. A CPU with 8-bit data bus and 8-bit address bus uses memory mapped I/O. It has 32 byte of ROM at 00H and 32 byte of ROM at 20H. It also has an I/O device at FFH. Show the load logic and enable logic.</vt:lpstr>
      <vt:lpstr>6. A CPU with 8-bit data bus and 8-bit address bus uses memory mapped I/O. It has 32 byte of ROM at 00H and 32 byte of ROM at 20H. It also has an I/O device at FFH. Show the load logic and enable logic.</vt:lpstr>
      <vt:lpstr>7. A computer system with an 8-bit address and an 8-bit data bus using isolated I/O. It has 16 x 8 ROM starting at address 00H constructed using 8 x8 chips; 64 x 8 of RAM starting at address 80H constructed using 64 x 4 chips. There is an I/O device at 40H. Show the design for the system.</vt:lpstr>
      <vt:lpstr>7. A computer system with an 8-bit address and an 8-bit data bus using isolated I/O. It has 16 x 8 ROM starting at address 00H constructed using 8 x8 chips; 64 x 8 of RAM starting at address 80H constructed using 64 x 4 chips. There is an I/O device at 40H. Show the design for the system.</vt:lpstr>
      <vt:lpstr>PowerPoint Presentation</vt:lpstr>
      <vt:lpstr>8. A computer system with 8-bit data bus and 8-bit control bus uses isolated I/O. It has 64 bytes of ROM starting at 00H constructed using 64 x 4 chips; 128 bytes of RAM, starting at address 40H constructed using 32 x 8 chips; an input device with READY signal at address 40H; and an output with no READY signal at address 80H. Show the design for this system. Include all enable and load logic. </vt:lpstr>
      <vt:lpstr>8. A computer system with 8-bit data bus and 8-bit control bus uses isolated I/O. It has 64 bytes of ROM starting at 00H constructed using 64 x 4 chips; 128 bytes of RAM, starting at address 40H constructed using 32 x 8 chips; an input device with READY signal at address 40H; and an output with no READY signal at address 80H. Show the design for this system. Include all enable and load logic. </vt:lpstr>
      <vt:lpstr>A computer system with 8-bit data bus and 8-bit control bus uses isolated I/O. It has 64 bytes of ROM starting at 00H constructed using 64 x 4 chips; 128 bytes of RAM, starting at address 40H constructed using 32 x 8 chips; an input device with READY signal at address 40H; and an output with no READY signal at address 80H. Show the design for this system. Include all enable and load logic. </vt:lpstr>
      <vt:lpstr>PowerPoint Presentation</vt:lpstr>
      <vt:lpstr>PowerPoint Presentation</vt:lpstr>
      <vt:lpstr>Assignment:</vt:lpstr>
      <vt:lpstr>Exam questions: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</dc:title>
  <dc:creator>shiva</dc:creator>
  <cp:lastModifiedBy>Shiva Ram Dam</cp:lastModifiedBy>
  <cp:revision>202</cp:revision>
  <dcterms:created xsi:type="dcterms:W3CDTF">2006-08-16T00:00:00Z</dcterms:created>
  <dcterms:modified xsi:type="dcterms:W3CDTF">2023-06-05T01:15:13Z</dcterms:modified>
</cp:coreProperties>
</file>