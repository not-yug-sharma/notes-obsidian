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6.png" ContentType="image/png"/>
  <Override PartName="/ppt/media/image7.gif" ContentType="image/gif"/>
  <Override PartName="/ppt/media/image4.png" ContentType="image/png"/>
  <Override PartName="/ppt/media/image5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_rels/notesSlide3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175951-4AEE-4F85-9A6C-66953805DC3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720000" y="900000"/>
            <a:ext cx="6119280" cy="344088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720000" y="4680000"/>
            <a:ext cx="6119280" cy="503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-414000" y="-522000"/>
            <a:ext cx="10889280" cy="1781280"/>
            <a:chOff x="-414000" y="-522000"/>
            <a:chExt cx="10889280" cy="1781280"/>
          </a:xfrm>
        </p:grpSpPr>
        <p:sp>
          <p:nvSpPr>
            <p:cNvPr id="3" name=""/>
            <p:cNvSpPr/>
            <p:nvPr/>
          </p:nvSpPr>
          <p:spPr>
            <a:xfrm>
              <a:off x="-41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288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990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692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39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096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798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500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202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90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606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08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10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12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41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-5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48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350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052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5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3456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4158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4860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5562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626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966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7668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370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072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77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-41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288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90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692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39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3096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798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4500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5202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90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606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7308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010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712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941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>
            <a:off x="-360720" y="4914000"/>
            <a:ext cx="10853280" cy="1241280"/>
            <a:chOff x="-360720" y="4914000"/>
            <a:chExt cx="10853280" cy="1241280"/>
          </a:xfrm>
        </p:grpSpPr>
        <p:sp>
          <p:nvSpPr>
            <p:cNvPr id="49" name=""/>
            <p:cNvSpPr/>
            <p:nvPr/>
          </p:nvSpPr>
          <p:spPr>
            <a:xfrm flipH="1">
              <a:off x="943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979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802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8729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838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6983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768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6623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732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592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628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523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87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2" name=""/>
            <p:cNvSpPr/>
            <p:nvPr/>
          </p:nvSpPr>
          <p:spPr>
            <a:xfrm flipH="1">
              <a:off x="557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385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453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5" name=""/>
            <p:cNvSpPr/>
            <p:nvPr/>
          </p:nvSpPr>
          <p:spPr>
            <a:xfrm flipH="1">
              <a:off x="417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277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3473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 flipH="1">
              <a:off x="244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9" name=""/>
            <p:cNvSpPr/>
            <p:nvPr/>
          </p:nvSpPr>
          <p:spPr>
            <a:xfrm flipH="1">
              <a:off x="3149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0" name=""/>
            <p:cNvSpPr/>
            <p:nvPr/>
          </p:nvSpPr>
          <p:spPr>
            <a:xfrm flipH="1">
              <a:off x="174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1" name=""/>
            <p:cNvSpPr/>
            <p:nvPr/>
          </p:nvSpPr>
          <p:spPr>
            <a:xfrm flipH="1">
              <a:off x="206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2" name=""/>
            <p:cNvSpPr/>
            <p:nvPr/>
          </p:nvSpPr>
          <p:spPr>
            <a:xfrm flipH="1">
              <a:off x="1043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3" name=""/>
            <p:cNvSpPr/>
            <p:nvPr/>
          </p:nvSpPr>
          <p:spPr>
            <a:xfrm flipH="1">
              <a:off x="136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4" name=""/>
            <p:cNvSpPr/>
            <p:nvPr/>
          </p:nvSpPr>
          <p:spPr>
            <a:xfrm flipH="1">
              <a:off x="-3672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5" name=""/>
            <p:cNvSpPr/>
            <p:nvPr/>
          </p:nvSpPr>
          <p:spPr>
            <a:xfrm flipH="1">
              <a:off x="66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6" name=""/>
            <p:cNvSpPr/>
            <p:nvPr/>
          </p:nvSpPr>
          <p:spPr>
            <a:xfrm flipH="1">
              <a:off x="-360720" y="4914000"/>
              <a:ext cx="701280" cy="701280"/>
            </a:xfrm>
            <a:custGeom>
              <a:avLst/>
              <a:gdLst>
                <a:gd name="textAreaLeft" fmla="*/ -720 w 701280"/>
                <a:gd name="textAreaRight" fmla="*/ 70164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7" name=""/>
            <p:cNvSpPr/>
            <p:nvPr/>
          </p:nvSpPr>
          <p:spPr>
            <a:xfrm flipH="1">
              <a:off x="34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8" name=""/>
            <p:cNvSpPr/>
            <p:nvPr/>
          </p:nvSpPr>
          <p:spPr>
            <a:xfrm flipH="1">
              <a:off x="908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"/>
          <p:cNvGrpSpPr/>
          <p:nvPr/>
        </p:nvGrpSpPr>
        <p:grpSpPr>
          <a:xfrm>
            <a:off x="-414000" y="-522000"/>
            <a:ext cx="10889280" cy="1781280"/>
            <a:chOff x="-414000" y="-522000"/>
            <a:chExt cx="10889280" cy="1781280"/>
          </a:xfrm>
        </p:grpSpPr>
        <p:sp>
          <p:nvSpPr>
            <p:cNvPr id="82" name=""/>
            <p:cNvSpPr/>
            <p:nvPr/>
          </p:nvSpPr>
          <p:spPr>
            <a:xfrm>
              <a:off x="-41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288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990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1692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239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3096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798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4500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5202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590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6606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7308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8010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8712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9414000" y="-522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-5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648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1350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2052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275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3456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4158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4860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5562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626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6966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7668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8370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9072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9774000" y="1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-41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288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990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1692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239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3096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3798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4500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5202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590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6606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7308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8010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8712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9414000" y="558000"/>
              <a:ext cx="701280" cy="701280"/>
            </a:xfrm>
            <a:custGeom>
              <a:avLst/>
              <a:gdLst>
                <a:gd name="textAreaLeft" fmla="*/ 0 w 701280"/>
                <a:gd name="textAreaRight" fmla="*/ 70236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27" name=""/>
          <p:cNvGrpSpPr/>
          <p:nvPr/>
        </p:nvGrpSpPr>
        <p:grpSpPr>
          <a:xfrm>
            <a:off x="-360720" y="4914000"/>
            <a:ext cx="10853280" cy="1241280"/>
            <a:chOff x="-360720" y="4914000"/>
            <a:chExt cx="10853280" cy="1241280"/>
          </a:xfrm>
        </p:grpSpPr>
        <p:sp>
          <p:nvSpPr>
            <p:cNvPr id="128" name=""/>
            <p:cNvSpPr/>
            <p:nvPr/>
          </p:nvSpPr>
          <p:spPr>
            <a:xfrm flipH="1">
              <a:off x="943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9" name=""/>
            <p:cNvSpPr/>
            <p:nvPr/>
          </p:nvSpPr>
          <p:spPr>
            <a:xfrm flipH="1">
              <a:off x="979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0" name=""/>
            <p:cNvSpPr/>
            <p:nvPr/>
          </p:nvSpPr>
          <p:spPr>
            <a:xfrm flipH="1">
              <a:off x="802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1" name=""/>
            <p:cNvSpPr/>
            <p:nvPr/>
          </p:nvSpPr>
          <p:spPr>
            <a:xfrm flipH="1">
              <a:off x="8729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2" name=""/>
            <p:cNvSpPr/>
            <p:nvPr/>
          </p:nvSpPr>
          <p:spPr>
            <a:xfrm flipH="1">
              <a:off x="838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3" name=""/>
            <p:cNvSpPr/>
            <p:nvPr/>
          </p:nvSpPr>
          <p:spPr>
            <a:xfrm flipH="1">
              <a:off x="6983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4" name=""/>
            <p:cNvSpPr/>
            <p:nvPr/>
          </p:nvSpPr>
          <p:spPr>
            <a:xfrm flipH="1">
              <a:off x="768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5" name=""/>
            <p:cNvSpPr/>
            <p:nvPr/>
          </p:nvSpPr>
          <p:spPr>
            <a:xfrm flipH="1">
              <a:off x="6623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6" name=""/>
            <p:cNvSpPr/>
            <p:nvPr/>
          </p:nvSpPr>
          <p:spPr>
            <a:xfrm flipH="1">
              <a:off x="732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7" name=""/>
            <p:cNvSpPr/>
            <p:nvPr/>
          </p:nvSpPr>
          <p:spPr>
            <a:xfrm flipH="1">
              <a:off x="592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8" name=""/>
            <p:cNvSpPr/>
            <p:nvPr/>
          </p:nvSpPr>
          <p:spPr>
            <a:xfrm flipH="1">
              <a:off x="628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39" name=""/>
            <p:cNvSpPr/>
            <p:nvPr/>
          </p:nvSpPr>
          <p:spPr>
            <a:xfrm flipH="1">
              <a:off x="523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0" name=""/>
            <p:cNvSpPr/>
            <p:nvPr/>
          </p:nvSpPr>
          <p:spPr>
            <a:xfrm flipH="1">
              <a:off x="487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1" name=""/>
            <p:cNvSpPr/>
            <p:nvPr/>
          </p:nvSpPr>
          <p:spPr>
            <a:xfrm flipH="1">
              <a:off x="557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2" name=""/>
            <p:cNvSpPr/>
            <p:nvPr/>
          </p:nvSpPr>
          <p:spPr>
            <a:xfrm flipH="1">
              <a:off x="385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3" name=""/>
            <p:cNvSpPr/>
            <p:nvPr/>
          </p:nvSpPr>
          <p:spPr>
            <a:xfrm flipH="1">
              <a:off x="453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4" name=""/>
            <p:cNvSpPr/>
            <p:nvPr/>
          </p:nvSpPr>
          <p:spPr>
            <a:xfrm flipH="1">
              <a:off x="417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5" name=""/>
            <p:cNvSpPr/>
            <p:nvPr/>
          </p:nvSpPr>
          <p:spPr>
            <a:xfrm flipH="1">
              <a:off x="277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6" name=""/>
            <p:cNvSpPr/>
            <p:nvPr/>
          </p:nvSpPr>
          <p:spPr>
            <a:xfrm flipH="1">
              <a:off x="3473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7" name=""/>
            <p:cNvSpPr/>
            <p:nvPr/>
          </p:nvSpPr>
          <p:spPr>
            <a:xfrm flipH="1">
              <a:off x="244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flipH="1">
              <a:off x="3149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flipH="1">
              <a:off x="174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0" name=""/>
            <p:cNvSpPr/>
            <p:nvPr/>
          </p:nvSpPr>
          <p:spPr>
            <a:xfrm flipH="1">
              <a:off x="206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1" name=""/>
            <p:cNvSpPr/>
            <p:nvPr/>
          </p:nvSpPr>
          <p:spPr>
            <a:xfrm flipH="1">
              <a:off x="1043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flipH="1">
              <a:off x="136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3" name=""/>
            <p:cNvSpPr/>
            <p:nvPr/>
          </p:nvSpPr>
          <p:spPr>
            <a:xfrm flipH="1">
              <a:off x="-3672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4" name=""/>
            <p:cNvSpPr/>
            <p:nvPr/>
          </p:nvSpPr>
          <p:spPr>
            <a:xfrm flipH="1">
              <a:off x="66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flipH="1">
              <a:off x="-360720" y="4914000"/>
              <a:ext cx="701280" cy="701280"/>
            </a:xfrm>
            <a:custGeom>
              <a:avLst/>
              <a:gdLst>
                <a:gd name="textAreaLeft" fmla="*/ -720 w 701280"/>
                <a:gd name="textAreaRight" fmla="*/ 70164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6" name=""/>
            <p:cNvSpPr/>
            <p:nvPr/>
          </p:nvSpPr>
          <p:spPr>
            <a:xfrm flipH="1">
              <a:off x="34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57" name=""/>
            <p:cNvSpPr/>
            <p:nvPr/>
          </p:nvSpPr>
          <p:spPr>
            <a:xfrm flipH="1">
              <a:off x="908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6A6A97-21DE-4123-A778-D21C2A4205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"/>
          <p:cNvGrpSpPr/>
          <p:nvPr/>
        </p:nvGrpSpPr>
        <p:grpSpPr>
          <a:xfrm>
            <a:off x="-360720" y="4896000"/>
            <a:ext cx="10853280" cy="1259280"/>
            <a:chOff x="-360720" y="4896000"/>
            <a:chExt cx="10853280" cy="1259280"/>
          </a:xfrm>
        </p:grpSpPr>
        <p:sp>
          <p:nvSpPr>
            <p:cNvPr id="161" name=""/>
            <p:cNvSpPr/>
            <p:nvPr/>
          </p:nvSpPr>
          <p:spPr>
            <a:xfrm flipH="1">
              <a:off x="943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2" name=""/>
            <p:cNvSpPr/>
            <p:nvPr/>
          </p:nvSpPr>
          <p:spPr>
            <a:xfrm flipH="1">
              <a:off x="979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3" name=""/>
            <p:cNvSpPr/>
            <p:nvPr/>
          </p:nvSpPr>
          <p:spPr>
            <a:xfrm flipH="1">
              <a:off x="802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4" name=""/>
            <p:cNvSpPr/>
            <p:nvPr/>
          </p:nvSpPr>
          <p:spPr>
            <a:xfrm flipH="1">
              <a:off x="8729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5" name=""/>
            <p:cNvSpPr/>
            <p:nvPr/>
          </p:nvSpPr>
          <p:spPr>
            <a:xfrm flipH="1">
              <a:off x="838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6" name=""/>
            <p:cNvSpPr/>
            <p:nvPr/>
          </p:nvSpPr>
          <p:spPr>
            <a:xfrm flipH="1">
              <a:off x="6983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7" name=""/>
            <p:cNvSpPr/>
            <p:nvPr/>
          </p:nvSpPr>
          <p:spPr>
            <a:xfrm flipH="1">
              <a:off x="768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8" name=""/>
            <p:cNvSpPr/>
            <p:nvPr/>
          </p:nvSpPr>
          <p:spPr>
            <a:xfrm flipH="1">
              <a:off x="6623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69" name=""/>
            <p:cNvSpPr/>
            <p:nvPr/>
          </p:nvSpPr>
          <p:spPr>
            <a:xfrm flipH="1">
              <a:off x="7325280" y="4896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0" name=""/>
            <p:cNvSpPr/>
            <p:nvPr/>
          </p:nvSpPr>
          <p:spPr>
            <a:xfrm flipH="1">
              <a:off x="592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1" name=""/>
            <p:cNvSpPr/>
            <p:nvPr/>
          </p:nvSpPr>
          <p:spPr>
            <a:xfrm flipH="1">
              <a:off x="628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2" name=""/>
            <p:cNvSpPr/>
            <p:nvPr/>
          </p:nvSpPr>
          <p:spPr>
            <a:xfrm flipH="1">
              <a:off x="523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3" name=""/>
            <p:cNvSpPr/>
            <p:nvPr/>
          </p:nvSpPr>
          <p:spPr>
            <a:xfrm flipH="1">
              <a:off x="487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4" name=""/>
            <p:cNvSpPr/>
            <p:nvPr/>
          </p:nvSpPr>
          <p:spPr>
            <a:xfrm flipH="1">
              <a:off x="557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H="1">
              <a:off x="385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6" name=""/>
            <p:cNvSpPr/>
            <p:nvPr/>
          </p:nvSpPr>
          <p:spPr>
            <a:xfrm flipH="1">
              <a:off x="453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H="1">
              <a:off x="417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H="1">
              <a:off x="2771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H="1">
              <a:off x="3473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H="1">
              <a:off x="2447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H="1">
              <a:off x="3149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H="1">
              <a:off x="1745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H="1">
              <a:off x="206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H="1">
              <a:off x="1043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H="1">
              <a:off x="1367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6" name=""/>
            <p:cNvSpPr/>
            <p:nvPr/>
          </p:nvSpPr>
          <p:spPr>
            <a:xfrm flipH="1">
              <a:off x="-3672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H="1">
              <a:off x="665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H="1">
              <a:off x="-360720" y="4914000"/>
              <a:ext cx="701280" cy="701280"/>
            </a:xfrm>
            <a:custGeom>
              <a:avLst/>
              <a:gdLst>
                <a:gd name="textAreaLeft" fmla="*/ -720 w 701280"/>
                <a:gd name="textAreaRight" fmla="*/ 70164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H="1">
              <a:off x="341280" y="491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H="1">
              <a:off x="9089280" y="5454000"/>
              <a:ext cx="701280" cy="701280"/>
            </a:xfrm>
            <a:custGeom>
              <a:avLst/>
              <a:gdLst>
                <a:gd name="textAreaLeft" fmla="*/ 720 w 701280"/>
                <a:gd name="textAreaRight" fmla="*/ 703080 w 701280"/>
                <a:gd name="textAreaTop" fmla="*/ 0 h 701280"/>
                <a:gd name="textAreaBottom" fmla="*/ 702360 h 70128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>
                <a:lnSpc>
                  <a:spcPct val="100000"/>
                </a:lnSpc>
              </a:pPr>
              <a:endParaRPr b="1" lang="en-US" sz="1400" strike="noStrike" u="none">
                <a:solidFill>
                  <a:srgbClr val="ffde59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ftr" idx="1"/>
          </p:nvPr>
        </p:nvSpPr>
        <p:spPr>
          <a:xfrm>
            <a:off x="2744640" y="4914000"/>
            <a:ext cx="4580280" cy="70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2"/>
          </p:nvPr>
        </p:nvSpPr>
        <p:spPr>
          <a:xfrm>
            <a:off x="8494200" y="4914000"/>
            <a:ext cx="1142280" cy="70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F20A93A-9308-4C40-AC3E-DE4B12A9D28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dt" idx="3"/>
          </p:nvPr>
        </p:nvSpPr>
        <p:spPr>
          <a:xfrm>
            <a:off x="342000" y="4914360"/>
            <a:ext cx="2400480" cy="70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gif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0" y="-4644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05" name=""/>
          <p:cNvSpPr/>
          <p:nvPr/>
        </p:nvSpPr>
        <p:spPr>
          <a:xfrm>
            <a:off x="2286360" y="1648800"/>
            <a:ext cx="5486040" cy="17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Altruism In Human Nature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2514600" y="4689360"/>
            <a:ext cx="4114440" cy="102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Presentation By: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Yug Sharma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6266880" y="3060000"/>
            <a:ext cx="5256720" cy="349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" descr=""/>
          <p:cNvPicPr/>
          <p:nvPr/>
        </p:nvPicPr>
        <p:blipFill>
          <a:blip r:embed="rId3"/>
          <a:stretch/>
        </p:blipFill>
        <p:spPr>
          <a:xfrm>
            <a:off x="-1249920" y="2000160"/>
            <a:ext cx="6219720" cy="414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PlaceHolder 14"/>
          <p:cNvSpPr txBox="1"/>
          <p:nvPr/>
        </p:nvSpPr>
        <p:spPr>
          <a:xfrm rot="331200">
            <a:off x="933840" y="4808880"/>
            <a:ext cx="61236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NOT MY ART</a:t>
            </a:r>
            <a:endParaRPr b="0" lang="en-US" sz="700" strike="noStrike" u="none">
              <a:solidFill>
                <a:srgbClr val="111111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2286360" y="3211200"/>
            <a:ext cx="54860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i="1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Why do we help others?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4"/>
          <a:stretch/>
        </p:blipFill>
        <p:spPr>
          <a:xfrm>
            <a:off x="1430280" y="4654800"/>
            <a:ext cx="685800" cy="68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-228600" y="-22860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92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 Attempt to Understand Human  Nature.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228600" y="1600200"/>
            <a:ext cx="6629040" cy="32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Symbol" charset="2"/>
              <a:buChar char="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Humans are social beings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Symbol" charset="2"/>
              <a:buChar char="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Survival depends on cooperation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Symbol" charset="2"/>
              <a:buChar char="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Self-interest often dominates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Symbol" charset="2"/>
              <a:buChar char="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Empathy exists naturally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Symbol" charset="2"/>
              <a:buChar char="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Morality shapes behavior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2"/>
          <a:stretch/>
        </p:blipFill>
        <p:spPr>
          <a:xfrm>
            <a:off x="2686680" y="702000"/>
            <a:ext cx="9960120" cy="52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507600" cy="56692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217" name="" descr=""/>
          <p:cNvPicPr/>
          <p:nvPr/>
        </p:nvPicPr>
        <p:blipFill>
          <a:blip r:embed="rId2"/>
          <a:stretch/>
        </p:blipFill>
        <p:spPr>
          <a:xfrm>
            <a:off x="4410360" y="360"/>
            <a:ext cx="5668920" cy="56689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40000" y="179280"/>
            <a:ext cx="899928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What is Altruism?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-374040" y="1031760"/>
            <a:ext cx="4945680" cy="39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Helping others without reward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Involves personal sacrifice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Driven by empathy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Seen across cultures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Exists beyond obligation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-228240" y="-22824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221" name="" descr=""/>
          <p:cNvPicPr/>
          <p:nvPr/>
        </p:nvPicPr>
        <p:blipFill>
          <a:blip r:embed="rId2"/>
          <a:stretch/>
        </p:blipFill>
        <p:spPr>
          <a:xfrm>
            <a:off x="3657600" y="-228600"/>
            <a:ext cx="2514600" cy="25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PlaceHolder 1"/>
          <p:cNvSpPr>
            <a:spLocks noGrp="1"/>
          </p:cNvSpPr>
          <p:nvPr>
            <p:ph/>
          </p:nvPr>
        </p:nvSpPr>
        <p:spPr>
          <a:xfrm>
            <a:off x="0" y="3429000"/>
            <a:ext cx="98298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 Biology</a:t>
            </a: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Psychology</a:t>
            </a: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Social Values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 algn="ctr">
              <a:spcBef>
                <a:spcPts val="1417"/>
              </a:spcBef>
              <a:buNone/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 Personal Interests</a:t>
            </a:r>
            <a:endParaRPr b="1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30280" y="228600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1" i="1" lang="en-US" sz="4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Why</a:t>
            </a:r>
            <a:r>
              <a:rPr b="1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 we Altruistic?</a:t>
            </a:r>
            <a:endParaRPr b="1" i="1" lang="en-US" sz="4400" strike="noStrike" u="sng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>
            <a:off x="-191160" y="-22824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225" name="" descr=""/>
          <p:cNvPicPr/>
          <p:nvPr/>
        </p:nvPicPr>
        <p:blipFill>
          <a:blip r:embed="rId2"/>
          <a:stretch/>
        </p:blipFill>
        <p:spPr>
          <a:xfrm>
            <a:off x="4381200" y="-228240"/>
            <a:ext cx="5797440" cy="617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70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Biology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 txBox="1"/>
          <p:nvPr/>
        </p:nvSpPr>
        <p:spPr>
          <a:xfrm>
            <a:off x="-374040" y="1031760"/>
            <a:ext cx="4945680" cy="39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Helping improves group survival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Kin selection explains sacrifice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Genes favor cooperation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Evolution rewards helpers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Survival extends beyond self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-228600" y="-22824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70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Psychology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5"/>
          <p:cNvSpPr txBox="1"/>
          <p:nvPr/>
        </p:nvSpPr>
        <p:spPr>
          <a:xfrm>
            <a:off x="-374040" y="1031760"/>
            <a:ext cx="4945680" cy="39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92500" lnSpcReduction="9999"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Empathy motivates helping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Moral values influence actions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Guilt encourages altruism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Positive emotions reinforce helping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Learned behavior matters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Personality affects generosity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2"/>
          <a:stretch/>
        </p:blipFill>
        <p:spPr>
          <a:xfrm>
            <a:off x="4915080" y="0"/>
            <a:ext cx="5535720" cy="617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" descr=""/>
          <p:cNvPicPr/>
          <p:nvPr/>
        </p:nvPicPr>
        <p:blipFill>
          <a:blip r:embed="rId1"/>
          <a:stretch/>
        </p:blipFill>
        <p:spPr>
          <a:xfrm>
            <a:off x="-228600" y="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70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Social Values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2971800" y="2514600"/>
            <a:ext cx="7086240" cy="354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PlaceHolder 7"/>
          <p:cNvSpPr txBox="1"/>
          <p:nvPr/>
        </p:nvSpPr>
        <p:spPr>
          <a:xfrm>
            <a:off x="-374040" y="1031760"/>
            <a:ext cx="4945680" cy="39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 fontScale="92500" lnSpcReduction="9999"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Culture teaches helping norms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Society rewards altruism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Religion promotes selflessness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Family shapes values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Role models inspire helping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Social pressure influences behavior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-228600" y="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70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Persona Interests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1"/>
          <p:cNvSpPr txBox="1"/>
          <p:nvPr/>
        </p:nvSpPr>
        <p:spPr>
          <a:xfrm>
            <a:off x="-374040" y="1031760"/>
            <a:ext cx="4945680" cy="39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Altruism feels rewarding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Helping benefits helper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Selflessness isn’t absolute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Motives often mixed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Cooperation serves survival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2"/>
          <a:stretch/>
        </p:blipFill>
        <p:spPr>
          <a:xfrm>
            <a:off x="4800600" y="1143000"/>
            <a:ext cx="4686120" cy="468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-228600" y="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070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What Limits Altruistic Nature?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9"/>
          <p:cNvSpPr txBox="1"/>
          <p:nvPr/>
        </p:nvSpPr>
        <p:spPr>
          <a:xfrm>
            <a:off x="-374040" y="1031760"/>
            <a:ext cx="4945680" cy="39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Fear prevents helping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Risk reduces altruism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Bystander effect occurs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Diffusion of responsibility exists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Self-preservation intervenes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Context shapes decisions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2"/>
          <a:stretch/>
        </p:blipFill>
        <p:spPr>
          <a:xfrm>
            <a:off x="4715280" y="829080"/>
            <a:ext cx="5114520" cy="511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" descr=""/>
          <p:cNvPicPr/>
          <p:nvPr/>
        </p:nvPicPr>
        <p:blipFill>
          <a:blip r:embed="rId1"/>
          <a:stretch/>
        </p:blipFill>
        <p:spPr>
          <a:xfrm>
            <a:off x="-228600" y="-10440"/>
            <a:ext cx="10307880" cy="6146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228600" y="411120"/>
            <a:ext cx="907092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Conclusion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3"/>
          <p:cNvSpPr txBox="1"/>
          <p:nvPr/>
        </p:nvSpPr>
        <p:spPr>
          <a:xfrm>
            <a:off x="-374040" y="1600200"/>
            <a:ext cx="7232040" cy="354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Humans possess an innate capacity to help others.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Altruism appears depending on situation and context.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Evolution and genetics encourage cooperative behavior.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Culture, norms, and upbringing guide helping actions.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Humans weigh personal cost against helping others.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Altruism connects individuals into functioning societies.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2"/>
          <a:stretch/>
        </p:blipFill>
        <p:spPr>
          <a:xfrm rot="19403400">
            <a:off x="5944680" y="1104480"/>
            <a:ext cx="4648320" cy="357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Rainbow">
      <a:dk1>
        <a:srgbClr val="000000"/>
      </a:dk1>
      <a:lt1>
        <a:srgbClr val="ffffff"/>
      </a:lt1>
      <a:dk2>
        <a:srgbClr val="1c1c1c"/>
      </a:dk2>
      <a:lt2>
        <a:srgbClr val="dddddd"/>
      </a:lt2>
      <a:accent1>
        <a:srgbClr val="ff0000"/>
      </a:accent1>
      <a:accent2>
        <a:srgbClr val="ff8000"/>
      </a:accent2>
      <a:accent3>
        <a:srgbClr val="ffff00"/>
      </a:accent3>
      <a:accent4>
        <a:srgbClr val="00a933"/>
      </a:accent4>
      <a:accent5>
        <a:srgbClr val="2a6099"/>
      </a:accent5>
      <a:accent6>
        <a:srgbClr val="800080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2026-02-05T19:03:11Z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2026-02-09T22:37:14Z</dcterms:modified>
  <cp:revision>7</cp:revision>
  <dc:subject/>
  <dc:title>Beehive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